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291" r:id="rId5"/>
    <p:sldId id="306" r:id="rId6"/>
    <p:sldId id="307" r:id="rId7"/>
    <p:sldId id="308" r:id="rId8"/>
    <p:sldId id="309" r:id="rId9"/>
    <p:sldId id="320" r:id="rId10"/>
    <p:sldId id="310" r:id="rId11"/>
    <p:sldId id="321" r:id="rId12"/>
    <p:sldId id="311" r:id="rId13"/>
    <p:sldId id="313" r:id="rId14"/>
    <p:sldId id="319" r:id="rId15"/>
    <p:sldId id="315" r:id="rId16"/>
    <p:sldId id="318" r:id="rId17"/>
    <p:sldId id="322" r:id="rId18"/>
    <p:sldId id="294" r:id="rId19"/>
    <p:sldId id="30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2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328" userDrawn="1">
          <p15:clr>
            <a:srgbClr val="A4A3A4"/>
          </p15:clr>
        </p15:guide>
        <p15:guide id="4" orient="horz" pos="3792" userDrawn="1">
          <p15:clr>
            <a:srgbClr val="A4A3A4"/>
          </p15:clr>
        </p15:guide>
        <p15:guide id="5" orient="horz" pos="888" userDrawn="1">
          <p15:clr>
            <a:srgbClr val="A4A3A4"/>
          </p15:clr>
        </p15:guide>
        <p15:guide id="6" pos="288" userDrawn="1">
          <p15:clr>
            <a:srgbClr val="A4A3A4"/>
          </p15:clr>
        </p15:guide>
        <p15:guide id="7" pos="7368" userDrawn="1">
          <p15:clr>
            <a:srgbClr val="A4A3A4"/>
          </p15:clr>
        </p15:guide>
        <p15:guide id="8" orient="horz" pos="2976" userDrawn="1">
          <p15:clr>
            <a:srgbClr val="A4A3A4"/>
          </p15:clr>
        </p15:guide>
        <p15:guide id="9" orient="horz" pos="1440" userDrawn="1">
          <p15:clr>
            <a:srgbClr val="A4A3A4"/>
          </p15:clr>
        </p15:guide>
        <p15:guide id="10" pos="2328" userDrawn="1">
          <p15:clr>
            <a:srgbClr val="A4A3A4"/>
          </p15:clr>
        </p15:guide>
        <p15:guide id="11" pos="5760" userDrawn="1">
          <p15:clr>
            <a:srgbClr val="A4A3A4"/>
          </p15:clr>
        </p15:guide>
        <p15:guide id="12" pos="13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E1DB"/>
    <a:srgbClr val="D3B9AA"/>
    <a:srgbClr val="DAAA96"/>
    <a:srgbClr val="D4B9AA"/>
    <a:srgbClr val="323232"/>
    <a:srgbClr val="F4E3DC"/>
    <a:srgbClr val="A06050"/>
    <a:srgbClr val="FB9AAA"/>
    <a:srgbClr val="D4636B"/>
    <a:srgbClr val="E4E2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8" dt="2026-10-26T04:45:44.702"/>
    <p1510:client id="{6170CB56-93BF-0659-FB7A-5F1AB07823C6}" v="729" dt="2026-10-26T03:07:03.448"/>
  </p1510:revLst>
</p1510:revInfo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/>
    <p:restoredTop sz="94694"/>
  </p:normalViewPr>
  <p:slideViewPr>
    <p:cSldViewPr snapToGrid="0" showGuides="1">
      <p:cViewPr>
        <p:scale>
          <a:sx n="100" d="100"/>
          <a:sy n="100" d="100"/>
        </p:scale>
        <p:origin x="-91" y="-274"/>
      </p:cViewPr>
      <p:guideLst>
        <p:guide orient="horz" pos="1224"/>
        <p:guide pos="3840"/>
        <p:guide orient="horz" pos="2328"/>
        <p:guide orient="horz" pos="3792"/>
        <p:guide orient="horz" pos="888"/>
        <p:guide pos="288"/>
        <p:guide pos="7368"/>
        <p:guide orient="horz" pos="2976"/>
        <p:guide orient="horz" pos="1440"/>
        <p:guide pos="2328"/>
        <p:guide pos="5760"/>
        <p:guide pos="1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5" d="100"/>
        <a:sy n="4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F6F78E-73F4-E74F-8679-362EAF9D71E0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A9F5B3-7604-9041-B751-11A08572E7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744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F2E2D922-D22B-FE2D-233E-7C19C1063D8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724781" y="2545444"/>
            <a:ext cx="3657600" cy="3657600"/>
          </a:xfrm>
          <a:solidFill>
            <a:schemeClr val="accent1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CE9608-82F8-5A3A-8F2B-B02328A17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616" y="850392"/>
            <a:ext cx="11347704" cy="1298448"/>
          </a:xfrm>
        </p:spPr>
        <p:txBody>
          <a:bodyPr anchor="ctr">
            <a:noAutofit/>
          </a:bodyPr>
          <a:lstStyle>
            <a:lvl1pPr algn="l">
              <a:defRPr sz="13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EF1E8-FA5F-A239-4078-955913687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616" y="5138928"/>
            <a:ext cx="5477256" cy="61264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A6C6E2D-7286-A78B-3254-6E7A370C6A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76288" y="2880360"/>
            <a:ext cx="1892808" cy="2990088"/>
          </a:xfrm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BFFEADD-5074-43DB-8F36-D0CB44E613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188" y="2432304"/>
            <a:ext cx="5738812" cy="1298448"/>
          </a:xfrm>
        </p:spPr>
        <p:txBody>
          <a:bodyPr anchor="ctr"/>
          <a:lstStyle>
            <a:lvl1pPr marL="0" indent="0">
              <a:buNone/>
              <a:defRPr sz="13800" b="1" i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933473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AFC17C-12A7-399B-31AC-AE7A040EBBDA}"/>
              </a:ext>
            </a:extLst>
          </p:cNvPr>
          <p:cNvSpPr/>
          <p:nvPr userDrawn="1"/>
        </p:nvSpPr>
        <p:spPr>
          <a:xfrm>
            <a:off x="9129011" y="816964"/>
            <a:ext cx="3062990" cy="6041036"/>
          </a:xfrm>
          <a:prstGeom prst="rect">
            <a:avLst/>
          </a:prstGeom>
          <a:solidFill>
            <a:schemeClr val="accent2">
              <a:lumMod val="60000"/>
              <a:lumOff val="40000"/>
              <a:alpha val="4078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732606-8178-6E55-26AD-51AAFF50D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57200"/>
            <a:ext cx="10936224" cy="1298448"/>
          </a:xfrm>
        </p:spPr>
        <p:txBody>
          <a:bodyPr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0AE91-3B85-16DB-77F3-EDF2472DDB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9C2A85-E1A4-A097-5C3F-E9D9396F5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76F0E-CDE4-F6FD-62E6-E202D97C9C8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11312" y="2304288"/>
            <a:ext cx="3172968" cy="3172968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2F2BA9-7FBD-D1B5-303E-B240F73D58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22192" y="2176272"/>
            <a:ext cx="3794760" cy="4663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F02BC-C132-F5F7-4A13-D0E96037F1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22192" y="2914650"/>
            <a:ext cx="3794760" cy="4663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BE18830-001B-B82E-701F-2D308BC984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22192" y="3653028"/>
            <a:ext cx="3794760" cy="4663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DB0F7C2-3561-BA83-5415-4B8330C5BFC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22192" y="4391406"/>
            <a:ext cx="3794760" cy="4663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5CD45539-3B3A-464F-2480-A7235DE9D3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22192" y="5129784"/>
            <a:ext cx="3794760" cy="4663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6428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5CD45539-3B3A-464F-2480-A7235DE9D3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154680"/>
            <a:ext cx="12198096" cy="1709928"/>
          </a:xfr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800" b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732606-8178-6E55-26AD-51AAFF50D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8800"/>
            <a:ext cx="12198096" cy="1709928"/>
          </a:xfrm>
        </p:spPr>
        <p:txBody>
          <a:bodyPr>
            <a:noAutofit/>
          </a:bodyPr>
          <a:lstStyle>
            <a:lvl1pPr algn="ctr">
              <a:defRPr sz="13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0AE91-3B85-16DB-77F3-EDF2472DDB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9C2A85-E1A4-A097-5C3F-E9D9396F5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2F2BA9-7FBD-D1B5-303E-B240F73D58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587752"/>
            <a:ext cx="12198096" cy="1508760"/>
          </a:xfrm>
          <a:solidFill>
            <a:schemeClr val="accent1"/>
          </a:solidFill>
        </p:spPr>
        <p:txBody>
          <a:bodyPr lIns="877824" rIns="87782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072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7090B92F-B1E5-5257-95EF-9608691E72F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87762" y="850614"/>
            <a:ext cx="3392424" cy="3392424"/>
          </a:xfrm>
          <a:solidFill>
            <a:schemeClr val="accent1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00590DB-1CC1-812C-5B3B-E798A1954E14}"/>
              </a:ext>
            </a:extLst>
          </p:cNvPr>
          <p:cNvCxnSpPr>
            <a:cxnSpLocks/>
          </p:cNvCxnSpPr>
          <p:nvPr userDrawn="1"/>
        </p:nvCxnSpPr>
        <p:spPr>
          <a:xfrm flipV="1">
            <a:off x="11031347" y="4545496"/>
            <a:ext cx="0" cy="2312504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450C0AB6-9748-6CBD-93E7-334B0BA5A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616" y="850392"/>
            <a:ext cx="11347704" cy="1298448"/>
          </a:xfrm>
        </p:spPr>
        <p:txBody>
          <a:bodyPr anchor="ctr">
            <a:noAutofit/>
          </a:bodyPr>
          <a:lstStyle>
            <a:lvl1pPr algn="l">
              <a:defRPr sz="13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C2259711-7EFE-2148-F50E-25FD01E326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188" y="2432304"/>
            <a:ext cx="5738812" cy="1298448"/>
          </a:xfrm>
        </p:spPr>
        <p:txBody>
          <a:bodyPr anchor="ctr"/>
          <a:lstStyle>
            <a:lvl1pPr marL="0" indent="0">
              <a:buNone/>
              <a:defRPr sz="13800" b="1" i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A4EDA27-F4C5-CD0B-F971-E7FD300C4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616" y="5138928"/>
            <a:ext cx="7123176" cy="61264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EAAF858D-31E9-7D8F-B203-45B2703EC3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86800" y="2286000"/>
            <a:ext cx="1993392" cy="3163824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626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C8054-F9DF-2FE3-0142-D48931912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57200"/>
            <a:ext cx="10936224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55DDE-FFCC-5750-83A9-F88E2F74A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264" y="1947672"/>
            <a:ext cx="10296144" cy="43708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A0D14-310A-2EDC-99A1-FCFA29C78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31091" y="983633"/>
            <a:ext cx="1728216" cy="28346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3FDCA-382D-537C-5751-191D136E9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F0449-EF10-3E4D-894D-3DE10CF420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01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50C0AB6-9748-6CBD-93E7-334B0BA5A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4984" y="932688"/>
            <a:ext cx="10552176" cy="4764024"/>
          </a:xfrm>
        </p:spPr>
        <p:txBody>
          <a:bodyPr anchor="ctr">
            <a:noAutofit/>
          </a:bodyPr>
          <a:lstStyle>
            <a:lvl1pPr algn="ctr">
              <a:defRPr sz="820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A4EDA27-F4C5-CD0B-F971-E7FD300C4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3408" y="5788152"/>
            <a:ext cx="2578608" cy="61264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B215B41-53EF-7995-A29E-CF60C8A56CEF}"/>
              </a:ext>
            </a:extLst>
          </p:cNvPr>
          <p:cNvCxnSpPr>
            <a:cxnSpLocks/>
          </p:cNvCxnSpPr>
          <p:nvPr userDrawn="1"/>
        </p:nvCxnSpPr>
        <p:spPr>
          <a:xfrm>
            <a:off x="0" y="6009861"/>
            <a:ext cx="6446922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9C915-8D4C-5E75-F776-9CD4D8D7E5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1143000"/>
            <a:ext cx="2752344" cy="2551176"/>
          </a:xfrm>
        </p:spPr>
        <p:txBody>
          <a:bodyPr/>
          <a:lstStyle>
            <a:lvl1pPr marL="0" indent="0" algn="ctr">
              <a:buNone/>
              <a:defRPr sz="40000" b="1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095A89F-EF79-78DD-BEDC-74C21F5D53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91472" y="4745736"/>
            <a:ext cx="2752344" cy="2551176"/>
          </a:xfrm>
        </p:spPr>
        <p:txBody>
          <a:bodyPr/>
          <a:lstStyle>
            <a:lvl1pPr marL="0" indent="0" algn="ctr">
              <a:buNone/>
              <a:defRPr sz="40000" b="1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3715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54DD8-0FD2-091E-4A43-D5285DD8A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57200"/>
            <a:ext cx="10936224" cy="12984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C009C9-3824-FABC-07B9-A4C9BC63627A}"/>
              </a:ext>
            </a:extLst>
          </p:cNvPr>
          <p:cNvSpPr/>
          <p:nvPr userDrawn="1"/>
        </p:nvSpPr>
        <p:spPr>
          <a:xfrm>
            <a:off x="976788" y="1933921"/>
            <a:ext cx="1959429" cy="49332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023D4-A9ED-002F-0B45-019DB4997807}"/>
              </a:ext>
            </a:extLst>
          </p:cNvPr>
          <p:cNvSpPr/>
          <p:nvPr userDrawn="1"/>
        </p:nvSpPr>
        <p:spPr>
          <a:xfrm>
            <a:off x="6394674" y="1933921"/>
            <a:ext cx="1959429" cy="49332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2C298F-D572-B084-FEE9-B3E572860979}"/>
              </a:ext>
            </a:extLst>
          </p:cNvPr>
          <p:cNvCxnSpPr>
            <a:cxnSpLocks/>
          </p:cNvCxnSpPr>
          <p:nvPr userDrawn="1"/>
        </p:nvCxnSpPr>
        <p:spPr>
          <a:xfrm>
            <a:off x="3078820" y="2982133"/>
            <a:ext cx="2948940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1AC3B6-A5EE-CC6F-3D11-437B77131B2E}"/>
              </a:ext>
            </a:extLst>
          </p:cNvPr>
          <p:cNvCxnSpPr>
            <a:cxnSpLocks/>
          </p:cNvCxnSpPr>
          <p:nvPr userDrawn="1"/>
        </p:nvCxnSpPr>
        <p:spPr>
          <a:xfrm>
            <a:off x="3068653" y="5567880"/>
            <a:ext cx="2948940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60AF34A-9EAC-D22C-71D6-89C99B36221A}"/>
              </a:ext>
            </a:extLst>
          </p:cNvPr>
          <p:cNvCxnSpPr>
            <a:cxnSpLocks/>
          </p:cNvCxnSpPr>
          <p:nvPr userDrawn="1"/>
        </p:nvCxnSpPr>
        <p:spPr>
          <a:xfrm>
            <a:off x="8461423" y="2982133"/>
            <a:ext cx="2948940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90D898-E343-5199-7EA3-0DE4BD9767D8}"/>
              </a:ext>
            </a:extLst>
          </p:cNvPr>
          <p:cNvCxnSpPr>
            <a:cxnSpLocks/>
          </p:cNvCxnSpPr>
          <p:nvPr userDrawn="1"/>
        </p:nvCxnSpPr>
        <p:spPr>
          <a:xfrm>
            <a:off x="8461423" y="5566074"/>
            <a:ext cx="2948940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00B5647-2B6E-CFB8-05E2-D6D583A8260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84248" y="2157984"/>
            <a:ext cx="1207008" cy="1709928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3909E6A2-2DD4-4F22-956D-1B5E586C49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79208" y="2157984"/>
            <a:ext cx="1207008" cy="1709928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430630E9-C15D-F5DD-A03B-EEE67E761D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983643" y="4736592"/>
            <a:ext cx="1207008" cy="1709928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93530D4-E207-8018-C54B-C19326257D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78603" y="4736592"/>
            <a:ext cx="1207008" cy="1709928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E0D0207-76F2-C0FA-F313-F5D2F82656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57016" y="2395728"/>
            <a:ext cx="2459736" cy="365760"/>
          </a:xfrm>
        </p:spPr>
        <p:txBody>
          <a:bodyPr lIns="109728" tIns="109728" rIns="109728" bIns="9144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94050553-7D63-5588-8C42-A3985DF290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51976" y="2395728"/>
            <a:ext cx="2459736" cy="365760"/>
          </a:xfrm>
        </p:spPr>
        <p:txBody>
          <a:bodyPr lIns="109728" tIns="109728" rIns="109728" bIns="9144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C83E3C83-61EE-7F38-6617-297F33FDF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57016" y="4983480"/>
            <a:ext cx="2459736" cy="365760"/>
          </a:xfrm>
        </p:spPr>
        <p:txBody>
          <a:bodyPr lIns="109728" tIns="109728" rIns="109728" bIns="9144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E4F0C230-CEF2-4829-F9D9-4A9D8CC18F3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51976" y="4983480"/>
            <a:ext cx="2459736" cy="365760"/>
          </a:xfrm>
        </p:spPr>
        <p:txBody>
          <a:bodyPr lIns="109728" tIns="109728" rIns="109728" bIns="9144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3C4BFE65-A254-A1B2-2B09-5BB8085A339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568337" y="2816352"/>
            <a:ext cx="1810512" cy="256032"/>
          </a:xfrm>
          <a:solidFill>
            <a:schemeClr val="accent1"/>
          </a:solidFill>
        </p:spPr>
        <p:txBody>
          <a:bodyPr lIns="109728" tIns="109728" rIns="109728" bIns="9144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885B50-26EE-88F4-89DB-7736CBB248F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951976" y="2816352"/>
            <a:ext cx="1810512" cy="256032"/>
          </a:xfrm>
          <a:solidFill>
            <a:schemeClr val="accent1"/>
          </a:solidFill>
        </p:spPr>
        <p:txBody>
          <a:bodyPr lIns="109728" tIns="109728" rIns="109728" bIns="9144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1CC9E02-F419-645B-186B-D3FDF688BE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568337" y="5349240"/>
            <a:ext cx="1810512" cy="365760"/>
          </a:xfrm>
          <a:solidFill>
            <a:schemeClr val="accent1"/>
          </a:solidFill>
        </p:spPr>
        <p:txBody>
          <a:bodyPr lIns="109728" tIns="109728" rIns="109728" bIns="9144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D6BFA8DA-6AF0-61F1-45B2-1FDCC246E63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951976" y="5349240"/>
            <a:ext cx="1810512" cy="365760"/>
          </a:xfrm>
          <a:solidFill>
            <a:schemeClr val="accent1"/>
          </a:solidFill>
        </p:spPr>
        <p:txBody>
          <a:bodyPr lIns="109728" tIns="109728" rIns="109728" bIns="9144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Slide Number Placeholder 2">
            <a:extLst>
              <a:ext uri="{FF2B5EF4-FFF2-40B4-BE49-F238E27FC236}">
                <a16:creationId xmlns:a16="http://schemas.microsoft.com/office/drawing/2014/main" id="{7C7F2D53-0EE2-0959-BEDE-668007CB09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0E7E5B21-86A3-5D02-E445-C1E918046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210266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C99AD27-1F9E-2F81-1D38-74CDE4087F98}"/>
              </a:ext>
            </a:extLst>
          </p:cNvPr>
          <p:cNvSpPr/>
          <p:nvPr userDrawn="1"/>
        </p:nvSpPr>
        <p:spPr>
          <a:xfrm>
            <a:off x="0" y="2632933"/>
            <a:ext cx="12205251" cy="432183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154DD8-0FD2-091E-4A43-D5285DD8A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57200"/>
            <a:ext cx="10936224" cy="12984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00B5647-2B6E-CFB8-05E2-D6D583A8260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69848" y="1947672"/>
            <a:ext cx="1609344" cy="1609344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3909E6A2-2DD4-4F22-956D-1B5E586C49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77056" y="1947672"/>
            <a:ext cx="1609344" cy="1609344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430630E9-C15D-F5DD-A03B-EEE67E761D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11696" y="1947672"/>
            <a:ext cx="1609344" cy="1609344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93530D4-E207-8018-C54B-C19326257D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491472" y="1947672"/>
            <a:ext cx="1609344" cy="1609344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E0D0207-76F2-C0FA-F313-F5D2F82656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41832" y="3593592"/>
            <a:ext cx="1901952" cy="347472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94050553-7D63-5588-8C42-A3985DF290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58184" y="3593592"/>
            <a:ext cx="1901952" cy="347472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C83E3C83-61EE-7F38-6617-297F33FDF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3680" y="3593592"/>
            <a:ext cx="1901952" cy="347472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E4F0C230-CEF2-4829-F9D9-4A9D8CC18F3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372600" y="3593592"/>
            <a:ext cx="1901952" cy="347472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3C4BFE65-A254-A1B2-2B09-5BB8085A339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41832" y="3904488"/>
            <a:ext cx="1901952" cy="182880"/>
          </a:xfrm>
          <a:noFill/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885B50-26EE-88F4-89DB-7736CBB248F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758184" y="3904488"/>
            <a:ext cx="1901952" cy="182880"/>
          </a:xfrm>
          <a:noFill/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1CC9E02-F419-645B-186B-D3FDF688BE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83680" y="3904488"/>
            <a:ext cx="1901952" cy="182880"/>
          </a:xfrm>
          <a:noFill/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D6BFA8DA-6AF0-61F1-45B2-1FDCC246E63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72600" y="3904488"/>
            <a:ext cx="1901952" cy="182880"/>
          </a:xfrm>
          <a:noFill/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A1A3BD0B-A18A-8787-8F97-D7570F2D8ED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69848" y="4398264"/>
            <a:ext cx="1609344" cy="1609344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0EE97C40-9EA8-1271-799B-861AADDA89C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877056" y="4398264"/>
            <a:ext cx="1609344" cy="1609344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9553C6EE-C9CA-36E2-FEA4-9279C954531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711696" y="4398264"/>
            <a:ext cx="1609344" cy="1609344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7" name="Picture Placeholder 11">
            <a:extLst>
              <a:ext uri="{FF2B5EF4-FFF2-40B4-BE49-F238E27FC236}">
                <a16:creationId xmlns:a16="http://schemas.microsoft.com/office/drawing/2014/main" id="{3E1E7EF7-6119-3B30-6256-741E415C098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491472" y="4398264"/>
            <a:ext cx="1609344" cy="1609344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1B0A4A9F-4439-5B3D-FEA1-2EEAA3B1ED5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41832" y="6080760"/>
            <a:ext cx="1901952" cy="347472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5D11883B-FD87-FA9B-714F-5F02AE0291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758184" y="6080760"/>
            <a:ext cx="1901952" cy="347472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15AFF5E4-27E8-EB92-B33F-CD49000CABE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583680" y="6080760"/>
            <a:ext cx="1901952" cy="347472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7DD26773-1C83-BF12-BAA8-AEC17A8B523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72600" y="6080760"/>
            <a:ext cx="1901952" cy="347472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504DD6A5-3D1E-AB04-C217-0F9ABAA852C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41832" y="6373368"/>
            <a:ext cx="1901952" cy="182880"/>
          </a:xfrm>
          <a:noFill/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2860D1AB-1DEE-EA78-C939-96F7962D258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758184" y="6373368"/>
            <a:ext cx="1901952" cy="182880"/>
          </a:xfrm>
          <a:noFill/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16">
            <a:extLst>
              <a:ext uri="{FF2B5EF4-FFF2-40B4-BE49-F238E27FC236}">
                <a16:creationId xmlns:a16="http://schemas.microsoft.com/office/drawing/2014/main" id="{46FAB9C9-9535-D927-5ED4-2A2039CD639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83680" y="6373368"/>
            <a:ext cx="1901952" cy="182880"/>
          </a:xfrm>
          <a:noFill/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16">
            <a:extLst>
              <a:ext uri="{FF2B5EF4-FFF2-40B4-BE49-F238E27FC236}">
                <a16:creationId xmlns:a16="http://schemas.microsoft.com/office/drawing/2014/main" id="{27B80C8A-FB49-A852-F6DE-5C2A1223F2E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372600" y="6373368"/>
            <a:ext cx="1901952" cy="182880"/>
          </a:xfrm>
          <a:noFill/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108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34BBA69-4DC3-B6B5-F4C1-6B25DDED5A2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72739" y="1949428"/>
            <a:ext cx="685800" cy="3240088"/>
          </a:xfr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13CF3E7-06EB-A521-4C56-E4CA3DD2BE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04488" y="1949450"/>
            <a:ext cx="685800" cy="3240088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9BFAC58-F350-7AB0-04A2-D1284CA80F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79008" y="1949428"/>
            <a:ext cx="685800" cy="3240088"/>
          </a:xfrm>
          <a:solidFill>
            <a:schemeClr val="accent4">
              <a:lumMod val="60000"/>
              <a:lumOff val="4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F7F9C969-6E6E-F416-8977-083F8F482F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98664" y="1949428"/>
            <a:ext cx="685800" cy="3240088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A5B06717-E8CC-113A-852F-ABF4C69524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36608" y="1949428"/>
            <a:ext cx="685800" cy="3240088"/>
          </a:xfrm>
          <a:solidFill>
            <a:schemeClr val="accent3">
              <a:lumMod val="60000"/>
              <a:lumOff val="4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E14789EF-5CDE-6313-24AA-19D63DBA22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 rot="16200000">
            <a:off x="676656" y="3785616"/>
            <a:ext cx="2359152" cy="466344"/>
          </a:xfrm>
          <a:noFill/>
        </p:spPr>
        <p:txBody>
          <a:bodyPr lIns="0" anchor="ctr"/>
          <a:lstStyle>
            <a:lvl1pPr marL="0" indent="0">
              <a:lnSpc>
                <a:spcPct val="90000"/>
              </a:lnSpc>
              <a:buNone/>
              <a:defRPr sz="2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45183E19-6396-BC37-585D-3459E5A6F0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 rot="16200000">
            <a:off x="2523744" y="3785616"/>
            <a:ext cx="2359152" cy="466344"/>
          </a:xfrm>
          <a:noFill/>
        </p:spPr>
        <p:txBody>
          <a:bodyPr lIns="0" anchor="ctr"/>
          <a:lstStyle>
            <a:lvl1pPr marL="0" indent="0">
              <a:lnSpc>
                <a:spcPct val="90000"/>
              </a:lnSpc>
              <a:buNone/>
              <a:defRPr sz="2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D93298C-7BDF-4FEB-9D50-9A70106605F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 rot="16200000">
            <a:off x="4389120" y="3785616"/>
            <a:ext cx="2359152" cy="466344"/>
          </a:xfrm>
          <a:noFill/>
        </p:spPr>
        <p:txBody>
          <a:bodyPr lIns="0" anchor="ctr"/>
          <a:lstStyle>
            <a:lvl1pPr marL="0" indent="0">
              <a:lnSpc>
                <a:spcPct val="90000"/>
              </a:lnSpc>
              <a:buNone/>
              <a:defRPr sz="2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1C205F30-117C-F9B2-1DF1-4D808D72F07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 rot="16200000">
            <a:off x="8046720" y="3785616"/>
            <a:ext cx="2359152" cy="466344"/>
          </a:xfrm>
          <a:noFill/>
        </p:spPr>
        <p:txBody>
          <a:bodyPr lIns="0" anchor="ctr"/>
          <a:lstStyle>
            <a:lvl1pPr marL="0" indent="0">
              <a:lnSpc>
                <a:spcPct val="90000"/>
              </a:lnSpc>
              <a:buNone/>
              <a:defRPr sz="2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D540A601-AB84-B187-127D-635BEAC7D2A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 rot="16200000">
            <a:off x="6199632" y="3785616"/>
            <a:ext cx="2359152" cy="466344"/>
          </a:xfrm>
          <a:noFill/>
        </p:spPr>
        <p:txBody>
          <a:bodyPr lIns="0" anchor="ctr"/>
          <a:lstStyle>
            <a:lvl1pPr marL="0" indent="0">
              <a:lnSpc>
                <a:spcPct val="90000"/>
              </a:lnSpc>
              <a:buNone/>
              <a:defRPr sz="2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39FB08DE-7839-B706-A263-C826C48159C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215750" y="2615184"/>
            <a:ext cx="1444752" cy="2231136"/>
          </a:xfrm>
        </p:spPr>
        <p:txBody>
          <a:bodyPr lIns="0" tIns="91440" bIns="146304" anchor="t"/>
          <a:lstStyle>
            <a:lvl1pPr marL="0" indent="0">
              <a:lnSpc>
                <a:spcPct val="90000"/>
              </a:lnSpc>
              <a:buNone/>
              <a:defRPr sz="1400" cap="none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A93934A6-FE95-C496-F14E-85DA799206A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052969" y="2615184"/>
            <a:ext cx="1444752" cy="2231136"/>
          </a:xfrm>
        </p:spPr>
        <p:txBody>
          <a:bodyPr lIns="0" tIns="91440" bIns="146304" anchor="t"/>
          <a:lstStyle>
            <a:lvl1pPr marL="0" indent="0">
              <a:lnSpc>
                <a:spcPct val="90000"/>
              </a:lnSpc>
              <a:buNone/>
              <a:defRPr sz="1400" cap="none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C30B205-E799-B533-0710-85E8A6AED6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890188" y="2615184"/>
            <a:ext cx="1444752" cy="2231136"/>
          </a:xfrm>
        </p:spPr>
        <p:txBody>
          <a:bodyPr lIns="0" tIns="91440" bIns="146304" anchor="t"/>
          <a:lstStyle>
            <a:lvl1pPr marL="0" indent="0">
              <a:lnSpc>
                <a:spcPct val="90000"/>
              </a:lnSpc>
              <a:buNone/>
              <a:defRPr sz="1400" cap="none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AFE0358-280A-EB8E-E2C5-932F3BD9FE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27407" y="2615184"/>
            <a:ext cx="1444752" cy="2231136"/>
          </a:xfrm>
        </p:spPr>
        <p:txBody>
          <a:bodyPr lIns="0" tIns="91440" bIns="146304" anchor="t"/>
          <a:lstStyle>
            <a:lvl1pPr marL="0" indent="0">
              <a:lnSpc>
                <a:spcPct val="90000"/>
              </a:lnSpc>
              <a:buNone/>
              <a:defRPr sz="1400" cap="none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E7337DF9-BEE0-9960-3F78-987551585C7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64624" y="2615184"/>
            <a:ext cx="1444752" cy="2231136"/>
          </a:xfrm>
        </p:spPr>
        <p:txBody>
          <a:bodyPr lIns="0" tIns="91440" bIns="146304" anchor="t"/>
          <a:lstStyle>
            <a:lvl1pPr marL="0" indent="0">
              <a:lnSpc>
                <a:spcPct val="90000"/>
              </a:lnSpc>
              <a:buNone/>
              <a:defRPr sz="1400" cap="none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87474658-A5AD-9D5A-7FD0-7082AC308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57200"/>
            <a:ext cx="10936224" cy="129844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Slide Number Placeholder 2">
            <a:extLst>
              <a:ext uri="{FF2B5EF4-FFF2-40B4-BE49-F238E27FC236}">
                <a16:creationId xmlns:a16="http://schemas.microsoft.com/office/drawing/2014/main" id="{3013595B-EBCE-B1FB-3943-6DD82772C0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7" name="Footer Placeholder 3">
            <a:extLst>
              <a:ext uri="{FF2B5EF4-FFF2-40B4-BE49-F238E27FC236}">
                <a16:creationId xmlns:a16="http://schemas.microsoft.com/office/drawing/2014/main" id="{9398F5FD-521F-F335-268A-7300D9280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997813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F4C9462-DD7C-E02D-1CDD-3A9BC288BE01}"/>
              </a:ext>
            </a:extLst>
          </p:cNvPr>
          <p:cNvSpPr/>
          <p:nvPr userDrawn="1"/>
        </p:nvSpPr>
        <p:spPr>
          <a:xfrm>
            <a:off x="6095999" y="0"/>
            <a:ext cx="6096000" cy="4762500"/>
          </a:xfrm>
          <a:prstGeom prst="rect">
            <a:avLst/>
          </a:prstGeom>
          <a:solidFill>
            <a:schemeClr val="accent4">
              <a:lumMod val="40000"/>
              <a:lumOff val="60000"/>
              <a:alpha val="4078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58996-D220-8B05-AE12-5AC4341BB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8224" y="2002536"/>
            <a:ext cx="7278624" cy="630936"/>
          </a:xfrm>
        </p:spPr>
        <p:txBody>
          <a:bodyPr lIns="0" anchor="ctr"/>
          <a:lstStyle>
            <a:lvl1pPr marL="0" indent="0">
              <a:buNone/>
              <a:defRPr sz="2400" b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BC794-4A27-9A79-42A9-AFA939B20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78224" y="2615184"/>
            <a:ext cx="7278624" cy="1179576"/>
          </a:xfrm>
        </p:spPr>
        <p:txBody>
          <a:bodyPr lIns="0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5120D9-C6AF-17C8-8F32-1FEE6BFBC9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078224" y="4352544"/>
            <a:ext cx="7278624" cy="630936"/>
          </a:xfrm>
        </p:spPr>
        <p:txBody>
          <a:bodyPr lIns="0" anchor="ctr"/>
          <a:lstStyle>
            <a:lvl1pPr marL="0" indent="0">
              <a:buNone/>
              <a:defRPr sz="2400" b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44281-6BA8-08CC-F27B-A845986905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078224" y="4983480"/>
            <a:ext cx="7278624" cy="1179576"/>
          </a:xfrm>
        </p:spPr>
        <p:txBody>
          <a:bodyPr lIns="0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180249D-D2B0-9DE0-465A-6DA7FEB8A5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2B3893C-830A-CE74-7EA8-9BB69F636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FEB4121-C7B1-D448-DE15-4DFEA09D0655}"/>
              </a:ext>
            </a:extLst>
          </p:cNvPr>
          <p:cNvCxnSpPr>
            <a:cxnSpLocks/>
          </p:cNvCxnSpPr>
          <p:nvPr userDrawn="1"/>
        </p:nvCxnSpPr>
        <p:spPr>
          <a:xfrm>
            <a:off x="-2" y="2315959"/>
            <a:ext cx="3858207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6431E3-2BD2-4D62-E397-DC4A847C7F2A}"/>
              </a:ext>
            </a:extLst>
          </p:cNvPr>
          <p:cNvCxnSpPr>
            <a:cxnSpLocks/>
          </p:cNvCxnSpPr>
          <p:nvPr userDrawn="1"/>
        </p:nvCxnSpPr>
        <p:spPr>
          <a:xfrm>
            <a:off x="-2" y="4659109"/>
            <a:ext cx="3858207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09AB8F6B-6D48-A68F-FD44-35F659AF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57200"/>
            <a:ext cx="10936224" cy="12984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33736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E26A0C-E42F-6A2A-044B-8C817559CB87}"/>
              </a:ext>
            </a:extLst>
          </p:cNvPr>
          <p:cNvSpPr/>
          <p:nvPr userDrawn="1"/>
        </p:nvSpPr>
        <p:spPr>
          <a:xfrm>
            <a:off x="4377128" y="3560257"/>
            <a:ext cx="7814872" cy="3297743"/>
          </a:xfrm>
          <a:prstGeom prst="rect">
            <a:avLst/>
          </a:prstGeom>
          <a:solidFill>
            <a:schemeClr val="accent2">
              <a:lumMod val="40000"/>
              <a:lumOff val="60000"/>
              <a:alpha val="4078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56E3D2-16B0-AFFA-51A9-B37F5830B6D9}"/>
              </a:ext>
            </a:extLst>
          </p:cNvPr>
          <p:cNvCxnSpPr>
            <a:cxnSpLocks/>
          </p:cNvCxnSpPr>
          <p:nvPr userDrawn="1"/>
        </p:nvCxnSpPr>
        <p:spPr>
          <a:xfrm>
            <a:off x="0" y="2657582"/>
            <a:ext cx="10782300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58996-D220-8B05-AE12-5AC4341BB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4208" y="1929384"/>
            <a:ext cx="2432304" cy="630936"/>
          </a:xfrm>
        </p:spPr>
        <p:txBody>
          <a:bodyPr lIns="0" anchor="ctr"/>
          <a:lstStyle>
            <a:lvl1pPr marL="0" indent="0">
              <a:buNone/>
              <a:defRPr sz="2400" b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BC794-4A27-9A79-42A9-AFA939B20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64208" y="2926080"/>
            <a:ext cx="2569464" cy="2093976"/>
          </a:xfrm>
        </p:spPr>
        <p:txBody>
          <a:bodyPr lIns="0" rIns="182880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5120D9-C6AF-17C8-8F32-1FEE6BFBC9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0912" y="1929384"/>
            <a:ext cx="2432304" cy="630936"/>
          </a:xfrm>
        </p:spPr>
        <p:txBody>
          <a:bodyPr lIns="0" anchor="ctr"/>
          <a:lstStyle>
            <a:lvl1pPr marL="0" indent="0">
              <a:buNone/>
              <a:defRPr sz="2400" b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44281-6BA8-08CC-F27B-A845986905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0912" y="2926080"/>
            <a:ext cx="2569464" cy="2093976"/>
          </a:xfrm>
        </p:spPr>
        <p:txBody>
          <a:bodyPr lIns="0" rIns="182880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180249D-D2B0-9DE0-465A-6DA7FEB8A5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2B3893C-830A-CE74-7EA8-9BB69F636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9AB8F6B-6D48-A68F-FD44-35F659AF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57200"/>
            <a:ext cx="10936224" cy="12984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537EA5E-3E96-57B0-C639-22C290FCD5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48472" y="1929384"/>
            <a:ext cx="2432304" cy="630936"/>
          </a:xfrm>
        </p:spPr>
        <p:txBody>
          <a:bodyPr lIns="0" anchor="ctr"/>
          <a:lstStyle>
            <a:lvl1pPr marL="0" indent="0">
              <a:buNone/>
              <a:defRPr sz="2400" b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C81D5F3B-60ED-CA80-3AE7-2EFC356E774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48472" y="2926080"/>
            <a:ext cx="2569464" cy="2093976"/>
          </a:xfrm>
        </p:spPr>
        <p:txBody>
          <a:bodyPr lIns="0" rIns="182880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7223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5CD45539-3B3A-464F-2480-A7235DE9D3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154680"/>
            <a:ext cx="12198096" cy="1709928"/>
          </a:xfr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800" b="1" cap="all" baseline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732606-8178-6E55-26AD-51AAFF50D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8800"/>
            <a:ext cx="12198096" cy="1709928"/>
          </a:xfrm>
        </p:spPr>
        <p:txBody>
          <a:bodyPr>
            <a:noAutofit/>
          </a:bodyPr>
          <a:lstStyle>
            <a:lvl1pPr algn="ctr">
              <a:defRPr sz="13800" cap="all" baseline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0AE91-3B85-16DB-77F3-EDF2472DDB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9C2A85-E1A4-A097-5C3F-E9D9396F5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2F2BA9-7FBD-D1B5-303E-B240F73D58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587752"/>
            <a:ext cx="12198096" cy="1508760"/>
          </a:xfrm>
          <a:solidFill>
            <a:schemeClr val="accent3"/>
          </a:solidFill>
        </p:spPr>
        <p:txBody>
          <a:bodyPr lIns="877824" rIns="87782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2879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A6C6E2D-7286-A78B-3254-6E7A370C6A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53528" y="2532888"/>
            <a:ext cx="3730752" cy="3721608"/>
          </a:xfrm>
          <a:solidFill>
            <a:schemeClr val="accent1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CE9608-82F8-5A3A-8F2B-B02328A17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616" y="850392"/>
            <a:ext cx="11347704" cy="1298448"/>
          </a:xfrm>
        </p:spPr>
        <p:txBody>
          <a:bodyPr anchor="ctr">
            <a:noAutofit/>
          </a:bodyPr>
          <a:lstStyle>
            <a:lvl1pPr algn="l">
              <a:defRPr sz="13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EF1E8-FA5F-A239-4078-955913687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616" y="4187952"/>
            <a:ext cx="5376672" cy="13716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BFFEADD-5074-43DB-8F36-D0CB44E613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188" y="2432304"/>
            <a:ext cx="5738812" cy="1298448"/>
          </a:xfrm>
        </p:spPr>
        <p:txBody>
          <a:bodyPr anchor="ctr"/>
          <a:lstStyle>
            <a:lvl1pPr marL="0" indent="0">
              <a:buNone/>
              <a:defRPr sz="13800" b="1" i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343883A3-D444-AA65-322E-C4F2B6692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632704" y="3593592"/>
            <a:ext cx="3410712" cy="1783080"/>
          </a:xfrm>
          <a:solidFill>
            <a:schemeClr val="accent5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905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F4C9462-DD7C-E02D-1CDD-3A9BC288BE01}"/>
              </a:ext>
            </a:extLst>
          </p:cNvPr>
          <p:cNvSpPr/>
          <p:nvPr userDrawn="1"/>
        </p:nvSpPr>
        <p:spPr>
          <a:xfrm>
            <a:off x="6095999" y="0"/>
            <a:ext cx="6096000" cy="4762500"/>
          </a:xfrm>
          <a:prstGeom prst="rect">
            <a:avLst/>
          </a:prstGeom>
          <a:solidFill>
            <a:schemeClr val="accent4">
              <a:lumMod val="40000"/>
              <a:lumOff val="60000"/>
              <a:alpha val="4078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BC794-4A27-9A79-42A9-AFA939B20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78224" y="1984248"/>
            <a:ext cx="7278624" cy="1810512"/>
          </a:xfrm>
        </p:spPr>
        <p:txBody>
          <a:bodyPr lIns="0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44281-6BA8-08CC-F27B-A845986905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078224" y="4352544"/>
            <a:ext cx="7278624" cy="1810512"/>
          </a:xfrm>
        </p:spPr>
        <p:txBody>
          <a:bodyPr lIns="0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180249D-D2B0-9DE0-465A-6DA7FEB8A5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2B3893C-830A-CE74-7EA8-9BB69F636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FEB4121-C7B1-D448-DE15-4DFEA09D0655}"/>
              </a:ext>
            </a:extLst>
          </p:cNvPr>
          <p:cNvCxnSpPr>
            <a:cxnSpLocks/>
          </p:cNvCxnSpPr>
          <p:nvPr userDrawn="1"/>
        </p:nvCxnSpPr>
        <p:spPr>
          <a:xfrm>
            <a:off x="-2" y="2315959"/>
            <a:ext cx="3858207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6431E3-2BD2-4D62-E397-DC4A847C7F2A}"/>
              </a:ext>
            </a:extLst>
          </p:cNvPr>
          <p:cNvCxnSpPr>
            <a:cxnSpLocks/>
          </p:cNvCxnSpPr>
          <p:nvPr userDrawn="1"/>
        </p:nvCxnSpPr>
        <p:spPr>
          <a:xfrm>
            <a:off x="-2" y="4659109"/>
            <a:ext cx="3858207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09AB8F6B-6D48-A68F-FD44-35F659AF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57200"/>
            <a:ext cx="10936224" cy="12984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79918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7BFC0-622D-78DB-4C7F-A2FA024C5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CFF80F-DCFA-670B-579E-37B302452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31091" y="983633"/>
            <a:ext cx="1728216" cy="28346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D5F004-91A0-6002-ADBC-13D488B34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F0449-EF10-3E4D-894D-3DE10CF420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6726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5F8A4-5F7C-D72D-3152-E32D36CB3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31091" y="983633"/>
            <a:ext cx="1728216" cy="28346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25242-09B4-0142-6671-8450905AA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F0449-EF10-3E4D-894D-3DE10CF420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0753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C525B-C154-D20D-97A4-047C9CC98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1B8FF-2966-C2CF-BC8F-A322410A5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988CC0-E81C-D2FD-24CC-8D1179C58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E7F841FD-D5EE-62EE-F649-30697BB81B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533D4FA-41B7-3B85-9984-899340B9D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0469436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058E3-7897-8638-F0DE-3DDACC000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AE7686-00A6-DD15-45FE-E6663C21EA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271584-1072-B88D-B424-16D9F75AC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D4020094-C16F-1070-9F84-9CBF13F85F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C24EA55D-AFC4-F4F2-FB5D-EB20AFEA4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70610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11206C-54A4-0DD2-0DA0-0828D48AF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9B531-1C66-2F6C-4232-5ADD330DF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64FE0-ADDF-F3C6-AEAB-A27E120C2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369" y="6428281"/>
            <a:ext cx="402336" cy="2834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710315-F2E5-50AA-6E01-B56CA2A14274}"/>
              </a:ext>
            </a:extLst>
          </p:cNvPr>
          <p:cNvCxnSpPr>
            <a:cxnSpLocks/>
          </p:cNvCxnSpPr>
          <p:nvPr userDrawn="1"/>
        </p:nvCxnSpPr>
        <p:spPr>
          <a:xfrm>
            <a:off x="334058" y="1754908"/>
            <a:ext cx="0" cy="4562299"/>
          </a:xfrm>
          <a:prstGeom prst="line">
            <a:avLst/>
          </a:prstGeom>
          <a:ln w="12700" cap="sq" cmpd="sng">
            <a:solidFill>
              <a:schemeClr val="tx1">
                <a:lumMod val="75000"/>
                <a:lumOff val="2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5CE6DBE-1597-24EC-79C6-1B2879B16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531091" y="983633"/>
            <a:ext cx="1728216" cy="2834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657955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51" r:id="rId4"/>
    <p:sldLayoutId id="2147483650" r:id="rId5"/>
    <p:sldLayoutId id="2147483663" r:id="rId6"/>
    <p:sldLayoutId id="2147483664" r:id="rId7"/>
    <p:sldLayoutId id="2147483665" r:id="rId8"/>
    <p:sldLayoutId id="2147483666" r:id="rId9"/>
    <p:sldLayoutId id="2147483653" r:id="rId10"/>
    <p:sldLayoutId id="2147483667" r:id="rId11"/>
    <p:sldLayoutId id="2147483668" r:id="rId12"/>
    <p:sldLayoutId id="2147483669" r:id="rId13"/>
    <p:sldLayoutId id="2147483670" r:id="rId14"/>
    <p:sldLayoutId id="2147483654" r:id="rId15"/>
    <p:sldLayoutId id="2147483655" r:id="rId16"/>
    <p:sldLayoutId id="2147483656" r:id="rId17"/>
    <p:sldLayoutId id="2147483657" r:id="rId1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82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312D-9F8D-45AE-D652-54AF78669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0696" y="2354072"/>
            <a:ext cx="9691624" cy="1298448"/>
          </a:xfrm>
        </p:spPr>
        <p:txBody>
          <a:bodyPr/>
          <a:lstStyle/>
          <a:p>
            <a:r>
              <a:rPr lang="en-US" sz="9600" dirty="0"/>
              <a:t>Predicting Att</a:t>
            </a:r>
            <a:r>
              <a:rPr lang="en-US" sz="9600"/>
              <a:t>rition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5924B5-15AC-3D2D-8B36-0947D8BE6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1256" y="4834128"/>
            <a:ext cx="3272536" cy="61264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By Katelyn McD</a:t>
            </a:r>
            <a:r>
              <a:rPr lang="en-US"/>
              <a:t>onald</a:t>
            </a:r>
            <a:endParaRPr lang="en-US" dirty="0"/>
          </a:p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105C76-333F-CECF-8C54-AFF8F7E4B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401233"/>
            <a:ext cx="7253207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777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2B284-C0F1-24F3-FF4E-5AADC8F0F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FAF5C-2426-2B87-B655-A3476B273B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6607" y="1754037"/>
            <a:ext cx="5869536" cy="4301554"/>
          </a:xfrm>
        </p:spPr>
        <p:txBody>
          <a:bodyPr/>
          <a:lstStyle/>
          <a:p>
            <a:r>
              <a:rPr 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Attrition affects a minority of employees</a:t>
            </a:r>
            <a:r>
              <a:rPr lang="en-US" sz="2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+mn-lt"/>
                <a:cs typeface="+mn-lt"/>
              </a:rPr>
              <a:t>, </a:t>
            </a:r>
            <a:r>
              <a:rPr 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but identifying employees who may leave could help </a:t>
            </a:r>
            <a:r>
              <a:rPr lang="en-US" sz="2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+mn-lt"/>
                <a:cs typeface="+mn-lt"/>
              </a:rPr>
              <a:t>the </a:t>
            </a:r>
            <a:r>
              <a:rPr 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organization prioritize retention efforts. </a:t>
            </a:r>
            <a:endParaRPr lang="en-US" sz="2200">
              <a:solidFill>
                <a:schemeClr val="tx1">
                  <a:lumMod val="75000"/>
                  <a:lumOff val="25000"/>
                </a:schemeClr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B8FD9-5C24-494A-A954-8C37B67B8A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0F0449-EF10-3E4D-894D-3DE10CF4206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8753B5E-7576-CBD6-16C6-FBE65A3AD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74" y="419415"/>
            <a:ext cx="11691874" cy="1292098"/>
          </a:xfrm>
        </p:spPr>
        <p:txBody>
          <a:bodyPr/>
          <a:lstStyle/>
          <a:p>
            <a:pPr algn="l"/>
            <a:r>
              <a:rPr lang="en-US" sz="5400" b="0">
                <a:ea typeface="+mj-lt"/>
                <a:cs typeface="+mj-lt"/>
              </a:rPr>
              <a:t>Employee Attrition Affects 16% of the Workforce</a:t>
            </a:r>
            <a:endParaRPr lang="en-US" sz="5400"/>
          </a:p>
        </p:txBody>
      </p:sp>
      <p:pic>
        <p:nvPicPr>
          <p:cNvPr id="5" name="Picture 4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BB6A9941-4BCA-AEB0-3563-7839F532C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793" y="1611596"/>
            <a:ext cx="4705011" cy="458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429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78C42-FD52-D5EC-EEC1-25844D66E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D79AF-0351-3161-50D7-415BDB89A7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0F0449-EF10-3E4D-894D-3DE10CF4206D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4" descr="A graph of a number of employees&#10;&#10;AI-generated content may be incorrect.">
            <a:extLst>
              <a:ext uri="{FF2B5EF4-FFF2-40B4-BE49-F238E27FC236}">
                <a16:creationId xmlns:a16="http://schemas.microsoft.com/office/drawing/2014/main" id="{29E9F1F8-6615-4F6C-C468-EE3A52936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957" y="1912098"/>
            <a:ext cx="7326678" cy="438113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B530F6B-EA51-F39E-8084-29C2A25DD0F5}"/>
              </a:ext>
            </a:extLst>
          </p:cNvPr>
          <p:cNvSpPr txBox="1">
            <a:spLocks/>
          </p:cNvSpPr>
          <p:nvPr/>
        </p:nvSpPr>
        <p:spPr>
          <a:xfrm>
            <a:off x="247674" y="616265"/>
            <a:ext cx="11691874" cy="12920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800" b="1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b="0">
                <a:ea typeface="+mj-lt"/>
                <a:cs typeface="+mj-lt"/>
              </a:rPr>
              <a:t>Attrition Rates are highest in the sales </a:t>
            </a:r>
            <a:r>
              <a:rPr lang="en-US" sz="5400" b="0" dirty="0">
                <a:ea typeface="+mj-lt"/>
                <a:cs typeface="+mj-lt"/>
              </a:rPr>
              <a:t>department </a:t>
            </a:r>
            <a:endParaRPr lang="en-US" sz="5400" b="0"/>
          </a:p>
        </p:txBody>
      </p:sp>
    </p:spTree>
    <p:extLst>
      <p:ext uri="{BB962C8B-B14F-4D97-AF65-F5344CB8AC3E}">
        <p14:creationId xmlns:p14="http://schemas.microsoft.com/office/powerpoint/2010/main" val="1735296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C6779-2D60-5CF5-827C-2000A6374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99C60-A07B-D622-F4A4-43926568FA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0F0449-EF10-3E4D-894D-3DE10CF4206D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F4EEA9-FD60-B5C6-A51C-9E6EC36AD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647" y="1711928"/>
            <a:ext cx="6965238" cy="48975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B0313B6-47B4-C746-F7B0-BA6F73C65CEB}"/>
              </a:ext>
            </a:extLst>
          </p:cNvPr>
          <p:cNvSpPr txBox="1">
            <a:spLocks/>
          </p:cNvSpPr>
          <p:nvPr/>
        </p:nvSpPr>
        <p:spPr>
          <a:xfrm>
            <a:off x="247674" y="419415"/>
            <a:ext cx="11691874" cy="12920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800" b="1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b="0" dirty="0">
                <a:ea typeface="+mj-lt"/>
                <a:cs typeface="+mj-lt"/>
              </a:rPr>
              <a:t> Attrition Rates are highest for </a:t>
            </a:r>
            <a:r>
              <a:rPr lang="en-US" sz="5400" b="0">
                <a:ea typeface="+mj-lt"/>
                <a:cs typeface="+mj-lt"/>
              </a:rPr>
              <a:t>sales reps</a:t>
            </a: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157304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02015-9EAE-676F-42B5-7F1385F4D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C25DF-1CBC-6D7C-D193-7F7ECB28B4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0F0449-EF10-3E4D-894D-3DE10CF4206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E69C5D9-282C-3DBA-FCC4-DEE382B251BD}"/>
              </a:ext>
            </a:extLst>
          </p:cNvPr>
          <p:cNvSpPr txBox="1">
            <a:spLocks/>
          </p:cNvSpPr>
          <p:nvPr/>
        </p:nvSpPr>
        <p:spPr>
          <a:xfrm>
            <a:off x="247674" y="419415"/>
            <a:ext cx="11691874" cy="12920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800" b="1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b="0">
                <a:ea typeface="+mj-lt"/>
                <a:cs typeface="+mj-lt"/>
              </a:rPr>
              <a:t>Lowest Environment Satisfaction Is Associated With the Highest Attrition</a:t>
            </a:r>
            <a:endParaRPr lang="en-US" sz="5400" b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B08A82-7CE6-445F-98D5-8DAE036F9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751" y="1936750"/>
            <a:ext cx="6404498" cy="446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406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FA282-7A91-831E-2947-5C67CDAD7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5468C-508A-15D6-0F31-6BBAF354A3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0F0449-EF10-3E4D-894D-3DE10CF4206D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855B10-7A06-47D1-8748-0A28BFEFF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044" y="1925426"/>
            <a:ext cx="6946718" cy="482348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F863E6E-E6C5-6B26-7B7A-6F99A3A1F131}"/>
              </a:ext>
            </a:extLst>
          </p:cNvPr>
          <p:cNvSpPr txBox="1">
            <a:spLocks/>
          </p:cNvSpPr>
          <p:nvPr/>
        </p:nvSpPr>
        <p:spPr>
          <a:xfrm>
            <a:off x="247674" y="419415"/>
            <a:ext cx="11691874" cy="12920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800" b="1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b="0">
                <a:ea typeface="+mj-lt"/>
                <a:cs typeface="+mj-lt"/>
              </a:rPr>
              <a:t>Lower Job </a:t>
            </a:r>
            <a:r>
              <a:rPr lang="en-US" sz="5400" b="0" dirty="0">
                <a:ea typeface="+mj-lt"/>
                <a:cs typeface="+mj-lt"/>
              </a:rPr>
              <a:t>Involvement and Work-Life Balance Are Associated With Higher Attrition</a:t>
            </a:r>
            <a:endParaRPr lang="en-US" sz="5400"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28757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42112-BC8F-2CD8-518B-5CEA20A7A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CCD17F-BEC9-23C6-52D1-136E1518AB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524951" y="2449206"/>
            <a:ext cx="6350470" cy="3139818"/>
          </a:xfrm>
        </p:spPr>
        <p:txBody>
          <a:bodyPr/>
          <a:lstStyle/>
          <a:p>
            <a:r>
              <a:rPr 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There is a statistically significant difference in mean monthly income between employees who left and those who stayed ((p &lt; 0.001)).</a:t>
            </a:r>
            <a:endParaRPr lang="en-US"/>
          </a:p>
          <a:p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D3C90-37FB-EECD-7376-A5D262BFCB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0F0449-EF10-3E4D-894D-3DE10CF4206D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2" name="Picture 1" descr="A graph showing the amount of income&#10;&#10;AI-generated content may be incorrect.">
            <a:extLst>
              <a:ext uri="{FF2B5EF4-FFF2-40B4-BE49-F238E27FC236}">
                <a16:creationId xmlns:a16="http://schemas.microsoft.com/office/drawing/2014/main" id="{39B74644-7C9C-F26C-1545-C79240CA9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025" y="2240268"/>
            <a:ext cx="6524233" cy="355510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4A0BE5D-21F9-C420-874B-B4C7CCF8BAAA}"/>
              </a:ext>
            </a:extLst>
          </p:cNvPr>
          <p:cNvSpPr txBox="1">
            <a:spLocks/>
          </p:cNvSpPr>
          <p:nvPr/>
        </p:nvSpPr>
        <p:spPr>
          <a:xfrm>
            <a:off x="247674" y="419415"/>
            <a:ext cx="10567612" cy="12920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800" b="1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b="0">
                <a:ea typeface="+mj-lt"/>
                <a:cs typeface="+mj-lt"/>
              </a:rPr>
              <a:t>Employees Who Left Tended to Have Lower </a:t>
            </a:r>
            <a:r>
              <a:rPr lang="en-US" sz="5400" b="0" dirty="0">
                <a:ea typeface="+mj-lt"/>
                <a:cs typeface="+mj-lt"/>
              </a:rPr>
              <a:t>Monthly Incomes</a:t>
            </a:r>
            <a:endParaRPr lang="en-US" sz="5400" dirty="0"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34551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D6F68-A9D5-DFDD-3937-A1BF07F0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7A805-7573-A405-1CE9-E1F5170D4E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0F0449-EF10-3E4D-894D-3DE10CF4206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D10F334-F118-E0A8-B116-7B165D45740D}"/>
              </a:ext>
            </a:extLst>
          </p:cNvPr>
          <p:cNvSpPr txBox="1">
            <a:spLocks/>
          </p:cNvSpPr>
          <p:nvPr/>
        </p:nvSpPr>
        <p:spPr>
          <a:xfrm>
            <a:off x="247674" y="419415"/>
            <a:ext cx="10875640" cy="12920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800" b="1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b="0">
                <a:ea typeface="+mj-lt"/>
                <a:cs typeface="+mj-lt"/>
              </a:rPr>
              <a:t>Shorter Company Tenure Is Associated With Higher Attrition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1ECA32-D473-3B7C-E873-CFCB3974D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103" y="1832919"/>
            <a:ext cx="5462662" cy="456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779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E7EC4-00C1-B532-8863-549DCD4F5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74E54-D817-A800-515A-B5F83203F4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0F0449-EF10-3E4D-894D-3DE10CF4206D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91FB22-DE4C-6AD9-F656-D5CA1EC67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393" y="1948557"/>
            <a:ext cx="7271304" cy="445602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21E65B8-DE5A-0EA9-6B0A-EF2659C6A8C7}"/>
              </a:ext>
            </a:extLst>
          </p:cNvPr>
          <p:cNvSpPr txBox="1">
            <a:spLocks/>
          </p:cNvSpPr>
          <p:nvPr/>
        </p:nvSpPr>
        <p:spPr>
          <a:xfrm>
            <a:off x="247674" y="419415"/>
            <a:ext cx="9230990" cy="12920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800" b="1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b="0">
                <a:ea typeface="+mj-lt"/>
                <a:cs typeface="+mj-lt"/>
              </a:rPr>
              <a:t> Shorter Role Tenure Is Associated With Higher Attrition</a:t>
            </a:r>
            <a:endParaRPr lang="en-US" sz="5400" dirty="0"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20549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16A73-9172-BB40-4B32-A61B07304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DE972-6BBF-56A1-329B-3BF3917E50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0F0449-EF10-3E4D-894D-3DE10CF4206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ABF8BD-F1F4-FA91-4742-1BC2170466D3}"/>
              </a:ext>
            </a:extLst>
          </p:cNvPr>
          <p:cNvSpPr txBox="1">
            <a:spLocks/>
          </p:cNvSpPr>
          <p:nvPr/>
        </p:nvSpPr>
        <p:spPr>
          <a:xfrm>
            <a:off x="247674" y="419415"/>
            <a:ext cx="10736252" cy="22039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800" b="1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b="0">
                <a:ea typeface="+mj-lt"/>
                <a:cs typeface="+mj-lt"/>
              </a:rPr>
              <a:t> Overtime and Frequent Business </a:t>
            </a:r>
            <a:r>
              <a:rPr lang="en-US" sz="5400" b="0" dirty="0">
                <a:ea typeface="+mj-lt"/>
                <a:cs typeface="+mj-lt"/>
              </a:rPr>
              <a:t>Travel Are Associated With Higher Attrition</a:t>
            </a:r>
            <a:endParaRPr lang="en-US" sz="5400" dirty="0">
              <a:ea typeface="+mj-lt"/>
              <a:cs typeface="+mj-lt"/>
            </a:endParaRPr>
          </a:p>
          <a:p>
            <a:pPr algn="l"/>
            <a:endParaRPr lang="en-US" sz="5400" b="0" dirty="0">
              <a:ea typeface="+mj-lt"/>
              <a:cs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7BFDC1-E798-C891-2D4C-F82457815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386" y="1924050"/>
            <a:ext cx="7073577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478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6659A-2228-0AB4-FB97-81FE76137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F9ED7-74AB-506D-39B4-C1A98937F0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0F0449-EF10-3E4D-894D-3DE10CF4206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71AB105-6F95-0B19-2CA3-4D0B3A372456}"/>
              </a:ext>
            </a:extLst>
          </p:cNvPr>
          <p:cNvSpPr txBox="1">
            <a:spLocks/>
          </p:cNvSpPr>
          <p:nvPr/>
        </p:nvSpPr>
        <p:spPr>
          <a:xfrm>
            <a:off x="247674" y="419415"/>
            <a:ext cx="10736252" cy="22039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800" b="1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b="0">
                <a:ea typeface="+mj-lt"/>
                <a:cs typeface="+mj-lt"/>
              </a:rPr>
              <a:t>Models are built with 29 employee factors </a:t>
            </a:r>
            <a:r>
              <a:rPr lang="en-US" sz="5400" b="0" dirty="0">
                <a:ea typeface="+mj-lt"/>
                <a:cs typeface="+mj-lt"/>
              </a:rPr>
              <a:t>across 5 areas</a:t>
            </a:r>
            <a:endParaRPr lang="en-US" dirty="0"/>
          </a:p>
          <a:p>
            <a:pPr algn="l"/>
            <a:endParaRPr lang="en-US" sz="5400" b="0" dirty="0">
              <a:ea typeface="+mj-lt"/>
              <a:cs typeface="+mj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3958EE-2BE7-03AF-C637-694CAEAE2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325512"/>
              </p:ext>
            </p:extLst>
          </p:nvPr>
        </p:nvGraphicFramePr>
        <p:xfrm>
          <a:off x="273050" y="2482850"/>
          <a:ext cx="11243602" cy="3017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621801">
                  <a:extLst>
                    <a:ext uri="{9D8B030D-6E8A-4147-A177-3AD203B41FA5}">
                      <a16:colId xmlns:a16="http://schemas.microsoft.com/office/drawing/2014/main" val="3816442229"/>
                    </a:ext>
                  </a:extLst>
                </a:gridCol>
                <a:gridCol w="5621801">
                  <a:extLst>
                    <a:ext uri="{9D8B030D-6E8A-4147-A177-3AD203B41FA5}">
                      <a16:colId xmlns:a16="http://schemas.microsoft.com/office/drawing/2014/main" val="1343346280"/>
                    </a:ext>
                  </a:extLst>
                </a:gridCol>
              </a:tblGrid>
              <a:tr h="6400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Category</a:t>
                      </a:r>
                    </a:p>
                    <a:p>
                      <a:pPr lvl="0" algn="ctr"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Examples</a:t>
                      </a:r>
                    </a:p>
                    <a:p>
                      <a:pPr lvl="0" algn="ctr">
                        <a:buNone/>
                      </a:pP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583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b="1" dirty="0"/>
                    </a:p>
                    <a:p>
                      <a:pPr lvl="0" algn="ctr">
                        <a:buNone/>
                      </a:pPr>
                      <a:r>
                        <a:rPr lang="en-US" b="1"/>
                        <a:t>Personal background</a:t>
                      </a:r>
                      <a:r>
                        <a:rPr lang="en-US"/>
                        <a:t> (6)</a:t>
                      </a:r>
                    </a:p>
                  </a:txBody>
                  <a:tcPr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br>
                        <a:rPr lang="en-US" dirty="0"/>
                      </a:br>
                      <a:r>
                        <a:rPr lang="en-US"/>
                        <a:t>Age, Marital status, Distance from home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272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Role &amp; workload</a:t>
                      </a:r>
                      <a:r>
                        <a:rPr lang="en-US"/>
                        <a:t> (6)</a:t>
                      </a:r>
                    </a:p>
                  </a:txBody>
                  <a:tcPr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Job role, Overtime, Business travel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182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Pay &amp; rewards</a:t>
                      </a:r>
                      <a:r>
                        <a:rPr lang="en-US"/>
                        <a:t> (6)</a:t>
                      </a:r>
                    </a:p>
                  </a:txBody>
                  <a:tcPr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Monthly income, Stock options, Salary hike 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4138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Career history</a:t>
                      </a:r>
                      <a:r>
                        <a:rPr lang="en-US"/>
                        <a:t> (7)</a:t>
                      </a:r>
                    </a:p>
                  </a:txBody>
                  <a:tcPr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Years at company, Years since promotion, Total experience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473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Satisfaction</a:t>
                      </a:r>
                      <a:r>
                        <a:rPr lang="en-US"/>
                        <a:t> (5)</a:t>
                      </a:r>
                    </a:p>
                  </a:txBody>
                  <a:tcPr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Job satisfaction, Work-life balance, Job involvement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974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240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4569F-CF70-6E26-2224-37EEB9401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CFDF015-A020-B160-6005-C2E8EBEEBA43}"/>
              </a:ext>
            </a:extLst>
          </p:cNvPr>
          <p:cNvSpPr/>
          <p:nvPr/>
        </p:nvSpPr>
        <p:spPr>
          <a:xfrm>
            <a:off x="2253453" y="1974013"/>
            <a:ext cx="2127791" cy="854156"/>
          </a:xfrm>
          <a:prstGeom prst="rect">
            <a:avLst/>
          </a:prstGeom>
          <a:solidFill>
            <a:srgbClr val="DAAA96"/>
          </a:solidFill>
          <a:ln>
            <a:solidFill>
              <a:srgbClr val="DAAA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3CA07F-D5CE-0783-9ADE-36ED379A1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odoni MT Condensed"/>
              </a:rPr>
              <a:t>KNN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92942F-7C37-89B7-DBC1-008B49E1E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354761" y="6179088"/>
            <a:ext cx="4423554" cy="251977"/>
          </a:xfrm>
        </p:spPr>
        <p:txBody>
          <a:bodyPr/>
          <a:lstStyle/>
          <a:p>
            <a:r>
              <a:rPr lang="en-US"/>
              <a:t>k = 3 and threshold = 0.20 chosen for model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B14FA-B80E-A8AE-EC7F-D8CD7602A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F0449-EF10-3E4D-894D-3DE10CF4206D}" type="slidenum">
              <a:rPr lang="en-US" smtClean="0"/>
              <a:t>12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8D2EBDC-E35A-C2A3-5E45-3064F124A893}"/>
              </a:ext>
            </a:extLst>
          </p:cNvPr>
          <p:cNvSpPr txBox="1">
            <a:spLocks/>
          </p:cNvSpPr>
          <p:nvPr/>
        </p:nvSpPr>
        <p:spPr>
          <a:xfrm>
            <a:off x="2728296" y="2997640"/>
            <a:ext cx="1985744" cy="15107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800" b="1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7200" b="0">
                <a:ea typeface="+mj-lt"/>
                <a:cs typeface="+mj-lt"/>
              </a:rPr>
              <a:t>67%</a:t>
            </a:r>
            <a:endParaRPr lang="en-US" sz="7200"/>
          </a:p>
          <a:p>
            <a:pPr algn="l"/>
            <a:endParaRPr lang="en-US" sz="5400" b="0" dirty="0">
              <a:ea typeface="+mj-lt"/>
              <a:cs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72C654-7D11-B407-6716-E932457C8127}"/>
              </a:ext>
            </a:extLst>
          </p:cNvPr>
          <p:cNvSpPr txBox="1"/>
          <p:nvPr/>
        </p:nvSpPr>
        <p:spPr>
          <a:xfrm>
            <a:off x="2250107" y="2062147"/>
            <a:ext cx="212985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i="0" baseline="0">
                <a:solidFill>
                  <a:srgbClr val="404040"/>
                </a:solidFill>
                <a:latin typeface="Bodoni MT Condensed"/>
              </a:rPr>
              <a:t>Accuracy</a:t>
            </a:r>
            <a:endParaRPr lang="en-US" sz="3600"/>
          </a:p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CA27D7-7B81-2B72-D4A0-5B9AD5148408}"/>
              </a:ext>
            </a:extLst>
          </p:cNvPr>
          <p:cNvSpPr txBox="1"/>
          <p:nvPr/>
        </p:nvSpPr>
        <p:spPr>
          <a:xfrm>
            <a:off x="1956549" y="3985884"/>
            <a:ext cx="2716967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Out of all 174</a:t>
            </a:r>
          </a:p>
          <a:p>
            <a:pPr algn="ctr"/>
            <a:r>
              <a:rPr lang="en-US"/>
              <a:t>employees, about 67</a:t>
            </a:r>
            <a:r>
              <a:rPr lang="en-US" dirty="0"/>
              <a:t>%</a:t>
            </a:r>
          </a:p>
          <a:p>
            <a:pPr algn="ctr"/>
            <a:r>
              <a:rPr lang="en-US"/>
              <a:t>were classified</a:t>
            </a:r>
          </a:p>
          <a:p>
            <a:pPr algn="ctr"/>
            <a:r>
              <a:rPr lang="en-US"/>
              <a:t>correctly by the</a:t>
            </a:r>
          </a:p>
          <a:p>
            <a:pPr algn="ctr"/>
            <a:r>
              <a:rPr lang="en-US"/>
              <a:t>model</a:t>
            </a:r>
          </a:p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E723B5-1BE2-CD75-BAEC-BC296582F9E9}"/>
              </a:ext>
            </a:extLst>
          </p:cNvPr>
          <p:cNvSpPr/>
          <p:nvPr/>
        </p:nvSpPr>
        <p:spPr>
          <a:xfrm>
            <a:off x="5116406" y="1961520"/>
            <a:ext cx="2127791" cy="854156"/>
          </a:xfrm>
          <a:prstGeom prst="rect">
            <a:avLst/>
          </a:prstGeom>
          <a:solidFill>
            <a:srgbClr val="DAAA96"/>
          </a:solidFill>
          <a:ln>
            <a:solidFill>
              <a:srgbClr val="DAAA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F6E795D-E71D-B9AC-B2BE-2937DAD16F76}"/>
              </a:ext>
            </a:extLst>
          </p:cNvPr>
          <p:cNvSpPr txBox="1">
            <a:spLocks/>
          </p:cNvSpPr>
          <p:nvPr/>
        </p:nvSpPr>
        <p:spPr>
          <a:xfrm>
            <a:off x="5591250" y="2985147"/>
            <a:ext cx="1985744" cy="15107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800" b="1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7200" b="0">
                <a:ea typeface="+mj-lt"/>
                <a:cs typeface="+mj-lt"/>
              </a:rPr>
              <a:t>68%</a:t>
            </a:r>
            <a:endParaRPr lang="en-US" sz="7200"/>
          </a:p>
          <a:p>
            <a:pPr algn="l"/>
            <a:endParaRPr lang="en-US" sz="5400" b="0" dirty="0">
              <a:ea typeface="+mj-lt"/>
              <a:cs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3B2930-3626-325E-102D-05FA50D76462}"/>
              </a:ext>
            </a:extLst>
          </p:cNvPr>
          <p:cNvSpPr txBox="1"/>
          <p:nvPr/>
        </p:nvSpPr>
        <p:spPr>
          <a:xfrm>
            <a:off x="5113061" y="2049654"/>
            <a:ext cx="212985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>
                <a:solidFill>
                  <a:srgbClr val="404040"/>
                </a:solidFill>
                <a:latin typeface="Bodoni MT Condensed"/>
              </a:rPr>
              <a:t>Sensitivity</a:t>
            </a:r>
            <a:endParaRPr lang="en-US" sz="3600"/>
          </a:p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10A4D0-6FC7-0279-02A0-591FB6D0BE42}"/>
              </a:ext>
            </a:extLst>
          </p:cNvPr>
          <p:cNvSpPr txBox="1"/>
          <p:nvPr/>
        </p:nvSpPr>
        <p:spPr>
          <a:xfrm>
            <a:off x="4819503" y="3973391"/>
            <a:ext cx="2716967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+mn-lt"/>
                <a:cs typeface="+mn-lt"/>
              </a:rPr>
              <a:t>Of the employees who</a:t>
            </a:r>
            <a:endParaRPr lang="en-US"/>
          </a:p>
          <a:p>
            <a:pPr algn="ctr"/>
            <a:r>
              <a:rPr lang="en-US" dirty="0">
                <a:ea typeface="+mn-lt"/>
                <a:cs typeface="+mn-lt"/>
              </a:rPr>
              <a:t>actually left the company, the</a:t>
            </a:r>
          </a:p>
          <a:p>
            <a:pPr algn="ctr"/>
            <a:r>
              <a:rPr lang="en-US">
                <a:ea typeface="+mn-lt"/>
                <a:cs typeface="+mn-lt"/>
              </a:rPr>
              <a:t>model correctly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predicts about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68% as employees with </a:t>
            </a:r>
            <a:r>
              <a:rPr lang="en-US" dirty="0">
                <a:ea typeface="+mn-lt"/>
                <a:cs typeface="+mn-lt"/>
              </a:rPr>
              <a:t>attrition</a:t>
            </a:r>
            <a:endParaRPr lang="en-US" dirty="0"/>
          </a:p>
          <a:p>
            <a:pPr algn="ctr"/>
            <a:endParaRPr lang="en-US" dirty="0"/>
          </a:p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B1A937-3466-430A-AC8B-C119D72D05A1}"/>
              </a:ext>
            </a:extLst>
          </p:cNvPr>
          <p:cNvSpPr/>
          <p:nvPr/>
        </p:nvSpPr>
        <p:spPr>
          <a:xfrm>
            <a:off x="7989520" y="1967765"/>
            <a:ext cx="2127791" cy="854156"/>
          </a:xfrm>
          <a:prstGeom prst="rect">
            <a:avLst/>
          </a:prstGeom>
          <a:solidFill>
            <a:srgbClr val="DAAA96"/>
          </a:solidFill>
          <a:ln>
            <a:solidFill>
              <a:srgbClr val="DAAA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CFF72874-CAA5-C729-82B4-EE08C2D5E11E}"/>
              </a:ext>
            </a:extLst>
          </p:cNvPr>
          <p:cNvSpPr txBox="1">
            <a:spLocks/>
          </p:cNvSpPr>
          <p:nvPr/>
        </p:nvSpPr>
        <p:spPr>
          <a:xfrm>
            <a:off x="8464364" y="2991392"/>
            <a:ext cx="1985744" cy="15107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800" b="1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7200" b="0">
                <a:ea typeface="+mj-lt"/>
                <a:cs typeface="+mj-lt"/>
              </a:rPr>
              <a:t>66%</a:t>
            </a:r>
            <a:endParaRPr lang="en-US" sz="7200"/>
          </a:p>
          <a:p>
            <a:pPr algn="l"/>
            <a:endParaRPr lang="en-US" sz="5400" b="0" dirty="0">
              <a:ea typeface="+mj-lt"/>
              <a:cs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B48A72-A4B0-F239-9E3F-BEE37159CF67}"/>
              </a:ext>
            </a:extLst>
          </p:cNvPr>
          <p:cNvSpPr txBox="1"/>
          <p:nvPr/>
        </p:nvSpPr>
        <p:spPr>
          <a:xfrm>
            <a:off x="7986175" y="2055899"/>
            <a:ext cx="212985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>
                <a:solidFill>
                  <a:srgbClr val="404040"/>
                </a:solidFill>
                <a:latin typeface="Bodoni MT Condensed"/>
              </a:rPr>
              <a:t>Specificity</a:t>
            </a:r>
            <a:endParaRPr lang="en-US" sz="3600"/>
          </a:p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27EFF3-3DFB-6D90-BC67-16C7B861BF1B}"/>
              </a:ext>
            </a:extLst>
          </p:cNvPr>
          <p:cNvSpPr txBox="1"/>
          <p:nvPr/>
        </p:nvSpPr>
        <p:spPr>
          <a:xfrm>
            <a:off x="7692617" y="3979636"/>
            <a:ext cx="2716967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+mn-lt"/>
                <a:cs typeface="+mn-lt"/>
              </a:rPr>
              <a:t>Of the employees who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stayed with the </a:t>
            </a:r>
            <a:r>
              <a:rPr lang="en-US" dirty="0">
                <a:ea typeface="+mn-lt"/>
                <a:cs typeface="+mn-lt"/>
              </a:rPr>
              <a:t>company, the</a:t>
            </a:r>
          </a:p>
          <a:p>
            <a:pPr algn="ctr"/>
            <a:r>
              <a:rPr lang="en-US">
                <a:ea typeface="+mn-lt"/>
                <a:cs typeface="+mn-lt"/>
              </a:rPr>
              <a:t>model correctly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predicts about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66% as employees </a:t>
            </a:r>
            <a:r>
              <a:rPr lang="en-US" dirty="0">
                <a:ea typeface="+mn-lt"/>
                <a:cs typeface="+mn-lt"/>
              </a:rPr>
              <a:t>without attrition</a:t>
            </a:r>
            <a:endParaRPr lang="en-US" dirty="0"/>
          </a:p>
          <a:p>
            <a:pPr algn="ctr"/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6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/>
      <p:bldP spid="10" grpId="0"/>
      <p:bldP spid="12" grpId="0"/>
      <p:bldP spid="13" grpId="0" animBg="1"/>
      <p:bldP spid="14" grpId="0"/>
      <p:bldP spid="15" grpId="0"/>
      <p:bldP spid="16" grpId="0"/>
      <p:bldP spid="19" grpId="0" animBg="1"/>
      <p:bldP spid="20" grpId="0"/>
      <p:bldP spid="21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7C4B4-5DEC-5BFA-5A90-D1FF7A9F5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2F20F7E-0F2E-ED15-88A7-DDCB0E201540}"/>
              </a:ext>
            </a:extLst>
          </p:cNvPr>
          <p:cNvSpPr/>
          <p:nvPr/>
        </p:nvSpPr>
        <p:spPr>
          <a:xfrm>
            <a:off x="2253453" y="1974013"/>
            <a:ext cx="2127791" cy="854156"/>
          </a:xfrm>
          <a:prstGeom prst="rect">
            <a:avLst/>
          </a:prstGeom>
          <a:solidFill>
            <a:srgbClr val="DAAA96"/>
          </a:solidFill>
          <a:ln>
            <a:solidFill>
              <a:srgbClr val="DAAA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7CB172-488D-0DE9-A1EC-9AF67725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Naïve Bayes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4D5904-459C-DD3A-8A25-51EC08188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091" y="6166493"/>
            <a:ext cx="3245918" cy="264572"/>
          </a:xfrm>
        </p:spPr>
        <p:txBody>
          <a:bodyPr/>
          <a:lstStyle/>
          <a:p>
            <a:r>
              <a:rPr lang="en-US"/>
              <a:t>threshold of 0.20 chosen for model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8B77C4-ED58-DC5A-BFC3-C56ACB013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F0449-EF10-3E4D-894D-3DE10CF4206D}" type="slidenum">
              <a:rPr lang="en-US" smtClean="0"/>
              <a:t>13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6383931-5351-65DC-6E8A-B0BEA0317A92}"/>
              </a:ext>
            </a:extLst>
          </p:cNvPr>
          <p:cNvSpPr txBox="1">
            <a:spLocks/>
          </p:cNvSpPr>
          <p:nvPr/>
        </p:nvSpPr>
        <p:spPr>
          <a:xfrm>
            <a:off x="2728296" y="2997640"/>
            <a:ext cx="1985744" cy="15107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800" b="1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7200" b="0">
                <a:ea typeface="+mj-lt"/>
                <a:cs typeface="+mj-lt"/>
              </a:rPr>
              <a:t>75%</a:t>
            </a:r>
            <a:endParaRPr lang="en-US" sz="7200"/>
          </a:p>
          <a:p>
            <a:pPr algn="l"/>
            <a:endParaRPr lang="en-US" sz="5400" b="0" dirty="0">
              <a:ea typeface="+mj-lt"/>
              <a:cs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9639AB-257D-5B6E-7AB7-8E99D70C81A4}"/>
              </a:ext>
            </a:extLst>
          </p:cNvPr>
          <p:cNvSpPr txBox="1"/>
          <p:nvPr/>
        </p:nvSpPr>
        <p:spPr>
          <a:xfrm>
            <a:off x="2250107" y="2062147"/>
            <a:ext cx="212985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i="0" baseline="0">
                <a:solidFill>
                  <a:srgbClr val="404040"/>
                </a:solidFill>
                <a:latin typeface="Bodoni MT Condensed"/>
              </a:rPr>
              <a:t>Accuracy</a:t>
            </a:r>
            <a:endParaRPr lang="en-US" sz="3600"/>
          </a:p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1A3FF4-A351-CA10-0CC5-E4E5352DACA4}"/>
              </a:ext>
            </a:extLst>
          </p:cNvPr>
          <p:cNvSpPr txBox="1"/>
          <p:nvPr/>
        </p:nvSpPr>
        <p:spPr>
          <a:xfrm>
            <a:off x="1956549" y="3985884"/>
            <a:ext cx="2716967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Out of all 174</a:t>
            </a:r>
          </a:p>
          <a:p>
            <a:pPr algn="ctr"/>
            <a:r>
              <a:rPr lang="en-US"/>
              <a:t>employees, about 75</a:t>
            </a:r>
            <a:r>
              <a:rPr lang="en-US" dirty="0"/>
              <a:t>%</a:t>
            </a:r>
          </a:p>
          <a:p>
            <a:pPr algn="ctr"/>
            <a:r>
              <a:rPr lang="en-US"/>
              <a:t>were classified</a:t>
            </a:r>
          </a:p>
          <a:p>
            <a:pPr algn="ctr"/>
            <a:r>
              <a:rPr lang="en-US"/>
              <a:t>correctly by the</a:t>
            </a:r>
          </a:p>
          <a:p>
            <a:pPr algn="ctr"/>
            <a:r>
              <a:rPr lang="en-US"/>
              <a:t>model</a:t>
            </a:r>
          </a:p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4E4C14-E12A-9DE4-BC26-76BE8FD0ABF4}"/>
              </a:ext>
            </a:extLst>
          </p:cNvPr>
          <p:cNvSpPr/>
          <p:nvPr/>
        </p:nvSpPr>
        <p:spPr>
          <a:xfrm>
            <a:off x="5116406" y="1961520"/>
            <a:ext cx="2127791" cy="854156"/>
          </a:xfrm>
          <a:prstGeom prst="rect">
            <a:avLst/>
          </a:prstGeom>
          <a:solidFill>
            <a:srgbClr val="DAAA96"/>
          </a:solidFill>
          <a:ln>
            <a:solidFill>
              <a:srgbClr val="DAAA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48B9F2E-575D-B17C-A7B3-12054F19A619}"/>
              </a:ext>
            </a:extLst>
          </p:cNvPr>
          <p:cNvSpPr txBox="1">
            <a:spLocks/>
          </p:cNvSpPr>
          <p:nvPr/>
        </p:nvSpPr>
        <p:spPr>
          <a:xfrm>
            <a:off x="5591250" y="2985147"/>
            <a:ext cx="1985744" cy="15107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800" b="1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7200" b="0">
                <a:ea typeface="+mj-lt"/>
                <a:cs typeface="+mj-lt"/>
              </a:rPr>
              <a:t>76%</a:t>
            </a:r>
            <a:endParaRPr lang="en-US" sz="7200"/>
          </a:p>
          <a:p>
            <a:pPr algn="l"/>
            <a:endParaRPr lang="en-US" sz="5400" b="0" dirty="0">
              <a:ea typeface="+mj-lt"/>
              <a:cs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6D76FE-D58B-97D1-FB52-6C28F8F315E5}"/>
              </a:ext>
            </a:extLst>
          </p:cNvPr>
          <p:cNvSpPr txBox="1"/>
          <p:nvPr/>
        </p:nvSpPr>
        <p:spPr>
          <a:xfrm>
            <a:off x="5113061" y="2049654"/>
            <a:ext cx="212985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>
                <a:solidFill>
                  <a:srgbClr val="404040"/>
                </a:solidFill>
                <a:latin typeface="Bodoni MT Condensed"/>
              </a:rPr>
              <a:t>Sensitivity</a:t>
            </a:r>
            <a:endParaRPr lang="en-US" sz="3600"/>
          </a:p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7E178D-9531-0632-21EE-B461DB389D51}"/>
              </a:ext>
            </a:extLst>
          </p:cNvPr>
          <p:cNvSpPr txBox="1"/>
          <p:nvPr/>
        </p:nvSpPr>
        <p:spPr>
          <a:xfrm>
            <a:off x="4819503" y="3973391"/>
            <a:ext cx="2716967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+mn-lt"/>
                <a:cs typeface="+mn-lt"/>
              </a:rPr>
              <a:t>Of the employees who</a:t>
            </a:r>
            <a:endParaRPr lang="en-US"/>
          </a:p>
          <a:p>
            <a:pPr algn="ctr"/>
            <a:r>
              <a:rPr lang="en-US" dirty="0">
                <a:ea typeface="+mn-lt"/>
                <a:cs typeface="+mn-lt"/>
              </a:rPr>
              <a:t>actually left the company, the</a:t>
            </a:r>
          </a:p>
          <a:p>
            <a:pPr algn="ctr"/>
            <a:r>
              <a:rPr lang="en-US">
                <a:ea typeface="+mn-lt"/>
                <a:cs typeface="+mn-lt"/>
              </a:rPr>
              <a:t>model correctly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predicts about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76% as employees with </a:t>
            </a:r>
            <a:r>
              <a:rPr lang="en-US" dirty="0">
                <a:ea typeface="+mn-lt"/>
                <a:cs typeface="+mn-lt"/>
              </a:rPr>
              <a:t>attrition</a:t>
            </a:r>
            <a:endParaRPr lang="en-US" dirty="0"/>
          </a:p>
          <a:p>
            <a:pPr algn="ctr"/>
            <a:endParaRPr lang="en-US" dirty="0"/>
          </a:p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358046-9004-8537-0324-75036256D02A}"/>
              </a:ext>
            </a:extLst>
          </p:cNvPr>
          <p:cNvSpPr/>
          <p:nvPr/>
        </p:nvSpPr>
        <p:spPr>
          <a:xfrm>
            <a:off x="7989520" y="1967765"/>
            <a:ext cx="2127791" cy="854156"/>
          </a:xfrm>
          <a:prstGeom prst="rect">
            <a:avLst/>
          </a:prstGeom>
          <a:solidFill>
            <a:srgbClr val="DAAA96"/>
          </a:solidFill>
          <a:ln>
            <a:solidFill>
              <a:srgbClr val="DAAA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ED7771F5-8A7B-3E47-69A4-7B29E3392F6F}"/>
              </a:ext>
            </a:extLst>
          </p:cNvPr>
          <p:cNvSpPr txBox="1">
            <a:spLocks/>
          </p:cNvSpPr>
          <p:nvPr/>
        </p:nvSpPr>
        <p:spPr>
          <a:xfrm>
            <a:off x="8464364" y="2991392"/>
            <a:ext cx="1985744" cy="15107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800" b="1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7200" b="0">
                <a:ea typeface="+mj-lt"/>
                <a:cs typeface="+mj-lt"/>
              </a:rPr>
              <a:t>75%</a:t>
            </a:r>
            <a:endParaRPr lang="en-US" sz="7200"/>
          </a:p>
          <a:p>
            <a:pPr algn="l"/>
            <a:endParaRPr lang="en-US" sz="5400" b="0" dirty="0">
              <a:ea typeface="+mj-lt"/>
              <a:cs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F338F7-9CD3-2211-A36A-BA1D4DDA4FE5}"/>
              </a:ext>
            </a:extLst>
          </p:cNvPr>
          <p:cNvSpPr txBox="1"/>
          <p:nvPr/>
        </p:nvSpPr>
        <p:spPr>
          <a:xfrm>
            <a:off x="7986175" y="2055899"/>
            <a:ext cx="212985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>
                <a:solidFill>
                  <a:srgbClr val="404040"/>
                </a:solidFill>
                <a:latin typeface="Bodoni MT Condensed"/>
              </a:rPr>
              <a:t>Specificity</a:t>
            </a:r>
            <a:endParaRPr lang="en-US"/>
          </a:p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19D9A7-2A37-A0F2-3DCE-5B14F3FB95E2}"/>
              </a:ext>
            </a:extLst>
          </p:cNvPr>
          <p:cNvSpPr txBox="1"/>
          <p:nvPr/>
        </p:nvSpPr>
        <p:spPr>
          <a:xfrm>
            <a:off x="7692617" y="3979636"/>
            <a:ext cx="2716967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+mn-lt"/>
                <a:cs typeface="+mn-lt"/>
              </a:rPr>
              <a:t>Of the employees who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stayed with the </a:t>
            </a:r>
            <a:r>
              <a:rPr lang="en-US" dirty="0">
                <a:ea typeface="+mn-lt"/>
                <a:cs typeface="+mn-lt"/>
              </a:rPr>
              <a:t>company, the</a:t>
            </a:r>
          </a:p>
          <a:p>
            <a:pPr algn="ctr"/>
            <a:r>
              <a:rPr lang="en-US">
                <a:ea typeface="+mn-lt"/>
                <a:cs typeface="+mn-lt"/>
              </a:rPr>
              <a:t>model correctly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predicts about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75% as employees </a:t>
            </a:r>
            <a:r>
              <a:rPr lang="en-US" dirty="0">
                <a:ea typeface="+mn-lt"/>
                <a:cs typeface="+mn-lt"/>
              </a:rPr>
              <a:t>without attrition</a:t>
            </a:r>
            <a:endParaRPr lang="en-US" dirty="0"/>
          </a:p>
          <a:p>
            <a:pPr algn="ctr"/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323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/>
      <p:bldP spid="10" grpId="0"/>
      <p:bldP spid="12" grpId="0"/>
      <p:bldP spid="13" grpId="0" animBg="1"/>
      <p:bldP spid="14" grpId="0"/>
      <p:bldP spid="15" grpId="0"/>
      <p:bldP spid="16" grpId="0"/>
      <p:bldP spid="19" grpId="0" animBg="1"/>
      <p:bldP spid="20" grpId="0"/>
      <p:bldP spid="21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057F6-44B9-B8BE-0E2D-16AAEF925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A9821-6B73-A84B-6952-4DF86E053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odoni MT Condensed"/>
              </a:rPr>
              <a:t>Cost Analysis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6ED74-97BE-E31F-C11D-C40C19410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F0449-EF10-3E4D-894D-3DE10CF4206D}" type="slidenum">
              <a:rPr lang="en-US" smtClean="0"/>
              <a:t>14</a:t>
            </a:fld>
            <a:endParaRPr lang="en-US" dirty="0"/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CD869AEA-836E-8825-2ED2-A096310BB6D7}"/>
              </a:ext>
            </a:extLst>
          </p:cNvPr>
          <p:cNvGraphicFramePr>
            <a:graphicFrameLocks noGrp="1"/>
          </p:cNvGraphicFramePr>
          <p:nvPr/>
        </p:nvGraphicFramePr>
        <p:xfrm>
          <a:off x="568960" y="2072640"/>
          <a:ext cx="11379731" cy="550888"/>
        </p:xfrm>
        <a:graphic>
          <a:graphicData uri="http://schemas.openxmlformats.org/drawingml/2006/table">
            <a:tbl>
              <a:tblPr bandRow="1">
                <a:tableStyleId>{284E427A-3D55-4303-BF80-6455036E1DE7}</a:tableStyleId>
              </a:tblPr>
              <a:tblGrid>
                <a:gridCol w="4699415">
                  <a:extLst>
                    <a:ext uri="{9D8B030D-6E8A-4147-A177-3AD203B41FA5}">
                      <a16:colId xmlns:a16="http://schemas.microsoft.com/office/drawing/2014/main" val="2461642900"/>
                    </a:ext>
                  </a:extLst>
                </a:gridCol>
                <a:gridCol w="2029296">
                  <a:extLst>
                    <a:ext uri="{9D8B030D-6E8A-4147-A177-3AD203B41FA5}">
                      <a16:colId xmlns:a16="http://schemas.microsoft.com/office/drawing/2014/main" val="3297900399"/>
                    </a:ext>
                  </a:extLst>
                </a:gridCol>
                <a:gridCol w="2330482">
                  <a:extLst>
                    <a:ext uri="{9D8B030D-6E8A-4147-A177-3AD203B41FA5}">
                      <a16:colId xmlns:a16="http://schemas.microsoft.com/office/drawing/2014/main" val="3065814167"/>
                    </a:ext>
                  </a:extLst>
                </a:gridCol>
                <a:gridCol w="2320538">
                  <a:extLst>
                    <a:ext uri="{9D8B030D-6E8A-4147-A177-3AD203B41FA5}">
                      <a16:colId xmlns:a16="http://schemas.microsoft.com/office/drawing/2014/main" val="3475443680"/>
                    </a:ext>
                  </a:extLst>
                </a:gridCol>
              </a:tblGrid>
              <a:tr h="5508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Metric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>
                      <a:solidFill>
                        <a:srgbClr val="E4E1DB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AAA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No Model</a:t>
                      </a:r>
                    </a:p>
                  </a:txBody>
                  <a:tcPr anchor="ctr">
                    <a:lnL w="76200">
                      <a:solidFill>
                        <a:srgbClr val="E4E1DB"/>
                      </a:solidFill>
                    </a:lnL>
                    <a:lnR w="76200">
                      <a:solidFill>
                        <a:srgbClr val="E4E1DB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AAA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KNN</a:t>
                      </a:r>
                    </a:p>
                  </a:txBody>
                  <a:tcPr anchor="ctr">
                    <a:lnL w="76200">
                      <a:solidFill>
                        <a:srgbClr val="E4E1DB"/>
                      </a:solidFill>
                    </a:lnL>
                    <a:lnR w="76200">
                      <a:solidFill>
                        <a:srgbClr val="E4E1DB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AAA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Naive Bayes</a:t>
                      </a:r>
                    </a:p>
                  </a:txBody>
                  <a:tcPr anchor="ctr">
                    <a:lnL w="76200">
                      <a:solidFill>
                        <a:srgbClr val="E4E1DB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AA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849461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F676C0DE-8900-709A-B589-6302D3B69DD5}"/>
              </a:ext>
            </a:extLst>
          </p:cNvPr>
          <p:cNvSpPr txBox="1"/>
          <p:nvPr/>
        </p:nvSpPr>
        <p:spPr>
          <a:xfrm>
            <a:off x="1273297" y="5964261"/>
            <a:ext cx="998320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 dirty="0">
                <a:ea typeface="+mn-lt"/>
                <a:cs typeface="+mn-lt"/>
              </a:rPr>
              <a:t>Assumptions: </a:t>
            </a:r>
            <a:r>
              <a:rPr lang="en-US">
                <a:ea typeface="+mn-lt"/>
                <a:cs typeface="+mn-lt"/>
              </a:rPr>
              <a:t>$60,000 median salary cost of replacing a departed employee, $200 incentive is given to every employee the model flags, incentives retain </a:t>
            </a:r>
            <a:r>
              <a:rPr lang="en-US" dirty="0">
                <a:ea typeface="+mn-lt"/>
                <a:cs typeface="+mn-lt"/>
              </a:rPr>
              <a:t>employees </a:t>
            </a:r>
            <a:endParaRPr lang="en-US" dirty="0"/>
          </a:p>
          <a:p>
            <a:pPr algn="ctr"/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CB39EDF-5D6D-60E6-7EB5-73D7B09D0EFC}"/>
              </a:ext>
            </a:extLst>
          </p:cNvPr>
          <p:cNvGraphicFramePr>
            <a:graphicFrameLocks noGrp="1"/>
          </p:cNvGraphicFramePr>
          <p:nvPr/>
        </p:nvGraphicFramePr>
        <p:xfrm>
          <a:off x="568961" y="2621049"/>
          <a:ext cx="11379731" cy="365760"/>
        </p:xfrm>
        <a:graphic>
          <a:graphicData uri="http://schemas.openxmlformats.org/drawingml/2006/table">
            <a:tbl>
              <a:tblPr bandRow="1">
                <a:tableStyleId>{284E427A-3D55-4303-BF80-6455036E1DE7}</a:tableStyleId>
              </a:tblPr>
              <a:tblGrid>
                <a:gridCol w="4699415">
                  <a:extLst>
                    <a:ext uri="{9D8B030D-6E8A-4147-A177-3AD203B41FA5}">
                      <a16:colId xmlns:a16="http://schemas.microsoft.com/office/drawing/2014/main" val="2461642900"/>
                    </a:ext>
                  </a:extLst>
                </a:gridCol>
                <a:gridCol w="2029296">
                  <a:extLst>
                    <a:ext uri="{9D8B030D-6E8A-4147-A177-3AD203B41FA5}">
                      <a16:colId xmlns:a16="http://schemas.microsoft.com/office/drawing/2014/main" val="3297900399"/>
                    </a:ext>
                  </a:extLst>
                </a:gridCol>
                <a:gridCol w="2330482">
                  <a:extLst>
                    <a:ext uri="{9D8B030D-6E8A-4147-A177-3AD203B41FA5}">
                      <a16:colId xmlns:a16="http://schemas.microsoft.com/office/drawing/2014/main" val="3065814167"/>
                    </a:ext>
                  </a:extLst>
                </a:gridCol>
                <a:gridCol w="2320538">
                  <a:extLst>
                    <a:ext uri="{9D8B030D-6E8A-4147-A177-3AD203B41FA5}">
                      <a16:colId xmlns:a16="http://schemas.microsoft.com/office/drawing/2014/main" val="34754436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True positives (leavers flagged)</a:t>
                      </a:r>
                      <a:endParaRPr lang="en-US" dirty="0"/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17</a:t>
                      </a:r>
                      <a:endParaRPr lang="en-US" dirty="0"/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19</a:t>
                      </a:r>
                      <a:endParaRPr lang="en-US" dirty="0"/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37473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810353D-1413-AC40-93F4-0498DB738884}"/>
              </a:ext>
            </a:extLst>
          </p:cNvPr>
          <p:cNvGraphicFramePr>
            <a:graphicFrameLocks noGrp="1"/>
          </p:cNvGraphicFramePr>
          <p:nvPr/>
        </p:nvGraphicFramePr>
        <p:xfrm>
          <a:off x="568960" y="2984731"/>
          <a:ext cx="11379731" cy="365760"/>
        </p:xfrm>
        <a:graphic>
          <a:graphicData uri="http://schemas.openxmlformats.org/drawingml/2006/table">
            <a:tbl>
              <a:tblPr bandRow="1">
                <a:tableStyleId>{284E427A-3D55-4303-BF80-6455036E1DE7}</a:tableStyleId>
              </a:tblPr>
              <a:tblGrid>
                <a:gridCol w="4699415">
                  <a:extLst>
                    <a:ext uri="{9D8B030D-6E8A-4147-A177-3AD203B41FA5}">
                      <a16:colId xmlns:a16="http://schemas.microsoft.com/office/drawing/2014/main" val="2461642900"/>
                    </a:ext>
                  </a:extLst>
                </a:gridCol>
                <a:gridCol w="2029296">
                  <a:extLst>
                    <a:ext uri="{9D8B030D-6E8A-4147-A177-3AD203B41FA5}">
                      <a16:colId xmlns:a16="http://schemas.microsoft.com/office/drawing/2014/main" val="3297900399"/>
                    </a:ext>
                  </a:extLst>
                </a:gridCol>
                <a:gridCol w="2330482">
                  <a:extLst>
                    <a:ext uri="{9D8B030D-6E8A-4147-A177-3AD203B41FA5}">
                      <a16:colId xmlns:a16="http://schemas.microsoft.com/office/drawing/2014/main" val="3065814167"/>
                    </a:ext>
                  </a:extLst>
                </a:gridCol>
                <a:gridCol w="2320538">
                  <a:extLst>
                    <a:ext uri="{9D8B030D-6E8A-4147-A177-3AD203B41FA5}">
                      <a16:colId xmlns:a16="http://schemas.microsoft.com/office/drawing/2014/main" val="34754436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False positives (stayers flagged)</a:t>
                      </a:r>
                      <a:endParaRPr lang="en-US" dirty="0"/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50</a:t>
                      </a:r>
                      <a:endParaRPr lang="en-US" dirty="0"/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37</a:t>
                      </a:r>
                      <a:endParaRPr lang="en-US" dirty="0"/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50242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AC916F4-B387-A7B9-222A-7C70EE59D88A}"/>
              </a:ext>
            </a:extLst>
          </p:cNvPr>
          <p:cNvGraphicFramePr>
            <a:graphicFrameLocks noGrp="1"/>
          </p:cNvGraphicFramePr>
          <p:nvPr/>
        </p:nvGraphicFramePr>
        <p:xfrm>
          <a:off x="568960" y="3348412"/>
          <a:ext cx="11379731" cy="365760"/>
        </p:xfrm>
        <a:graphic>
          <a:graphicData uri="http://schemas.openxmlformats.org/drawingml/2006/table">
            <a:tbl>
              <a:tblPr bandRow="1">
                <a:tableStyleId>{284E427A-3D55-4303-BF80-6455036E1DE7}</a:tableStyleId>
              </a:tblPr>
              <a:tblGrid>
                <a:gridCol w="4699415">
                  <a:extLst>
                    <a:ext uri="{9D8B030D-6E8A-4147-A177-3AD203B41FA5}">
                      <a16:colId xmlns:a16="http://schemas.microsoft.com/office/drawing/2014/main" val="2461642900"/>
                    </a:ext>
                  </a:extLst>
                </a:gridCol>
                <a:gridCol w="2029296">
                  <a:extLst>
                    <a:ext uri="{9D8B030D-6E8A-4147-A177-3AD203B41FA5}">
                      <a16:colId xmlns:a16="http://schemas.microsoft.com/office/drawing/2014/main" val="3297900399"/>
                    </a:ext>
                  </a:extLst>
                </a:gridCol>
                <a:gridCol w="2330482">
                  <a:extLst>
                    <a:ext uri="{9D8B030D-6E8A-4147-A177-3AD203B41FA5}">
                      <a16:colId xmlns:a16="http://schemas.microsoft.com/office/drawing/2014/main" val="3065814167"/>
                    </a:ext>
                  </a:extLst>
                </a:gridCol>
                <a:gridCol w="2320538">
                  <a:extLst>
                    <a:ext uri="{9D8B030D-6E8A-4147-A177-3AD203B41FA5}">
                      <a16:colId xmlns:a16="http://schemas.microsoft.com/office/drawing/2014/main" val="34754436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False negatives (leavers missed)</a:t>
                      </a:r>
                      <a:endParaRPr lang="en-US" dirty="0"/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25</a:t>
                      </a:r>
                      <a:endParaRPr lang="en-US" dirty="0"/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8</a:t>
                      </a:r>
                      <a:endParaRPr lang="en-US" dirty="0"/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6</a:t>
                      </a:r>
                      <a:endParaRPr lang="en-US" dirty="0"/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02708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0F827BA-FC95-CA7B-370C-08A1ED74D917}"/>
              </a:ext>
            </a:extLst>
          </p:cNvPr>
          <p:cNvGraphicFramePr>
            <a:graphicFrameLocks noGrp="1"/>
          </p:cNvGraphicFramePr>
          <p:nvPr/>
        </p:nvGraphicFramePr>
        <p:xfrm>
          <a:off x="568959" y="3712094"/>
          <a:ext cx="11379731" cy="365760"/>
        </p:xfrm>
        <a:graphic>
          <a:graphicData uri="http://schemas.openxmlformats.org/drawingml/2006/table">
            <a:tbl>
              <a:tblPr bandRow="1">
                <a:tableStyleId>{284E427A-3D55-4303-BF80-6455036E1DE7}</a:tableStyleId>
              </a:tblPr>
              <a:tblGrid>
                <a:gridCol w="4699415">
                  <a:extLst>
                    <a:ext uri="{9D8B030D-6E8A-4147-A177-3AD203B41FA5}">
                      <a16:colId xmlns:a16="http://schemas.microsoft.com/office/drawing/2014/main" val="2461642900"/>
                    </a:ext>
                  </a:extLst>
                </a:gridCol>
                <a:gridCol w="2029296">
                  <a:extLst>
                    <a:ext uri="{9D8B030D-6E8A-4147-A177-3AD203B41FA5}">
                      <a16:colId xmlns:a16="http://schemas.microsoft.com/office/drawing/2014/main" val="3297900399"/>
                    </a:ext>
                  </a:extLst>
                </a:gridCol>
                <a:gridCol w="2330482">
                  <a:extLst>
                    <a:ext uri="{9D8B030D-6E8A-4147-A177-3AD203B41FA5}">
                      <a16:colId xmlns:a16="http://schemas.microsoft.com/office/drawing/2014/main" val="3065814167"/>
                    </a:ext>
                  </a:extLst>
                </a:gridCol>
                <a:gridCol w="2320538">
                  <a:extLst>
                    <a:ext uri="{9D8B030D-6E8A-4147-A177-3AD203B41FA5}">
                      <a16:colId xmlns:a16="http://schemas.microsoft.com/office/drawing/2014/main" val="34754436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Employees given incentive</a:t>
                      </a:r>
                      <a:endParaRPr lang="en-US" dirty="0"/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67</a:t>
                      </a:r>
                      <a:endParaRPr lang="en-US" dirty="0"/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56</a:t>
                      </a:r>
                      <a:endParaRPr lang="en-US" sz="1800" b="0" i="0" u="none" strike="noStrike" noProof="0" dirty="0">
                        <a:latin typeface="Avenir Next LT Pro"/>
                      </a:endParaRPr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41357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CE66FC6-9710-8F7D-B803-3FC5B2AEFC8D}"/>
              </a:ext>
            </a:extLst>
          </p:cNvPr>
          <p:cNvGraphicFramePr>
            <a:graphicFrameLocks noGrp="1"/>
          </p:cNvGraphicFramePr>
          <p:nvPr/>
        </p:nvGraphicFramePr>
        <p:xfrm>
          <a:off x="568959" y="4075776"/>
          <a:ext cx="11379731" cy="365760"/>
        </p:xfrm>
        <a:graphic>
          <a:graphicData uri="http://schemas.openxmlformats.org/drawingml/2006/table">
            <a:tbl>
              <a:tblPr bandRow="1">
                <a:tableStyleId>{284E427A-3D55-4303-BF80-6455036E1DE7}</a:tableStyleId>
              </a:tblPr>
              <a:tblGrid>
                <a:gridCol w="4699415">
                  <a:extLst>
                    <a:ext uri="{9D8B030D-6E8A-4147-A177-3AD203B41FA5}">
                      <a16:colId xmlns:a16="http://schemas.microsoft.com/office/drawing/2014/main" val="2461642900"/>
                    </a:ext>
                  </a:extLst>
                </a:gridCol>
                <a:gridCol w="2029296">
                  <a:extLst>
                    <a:ext uri="{9D8B030D-6E8A-4147-A177-3AD203B41FA5}">
                      <a16:colId xmlns:a16="http://schemas.microsoft.com/office/drawing/2014/main" val="3297900399"/>
                    </a:ext>
                  </a:extLst>
                </a:gridCol>
                <a:gridCol w="2330482">
                  <a:extLst>
                    <a:ext uri="{9D8B030D-6E8A-4147-A177-3AD203B41FA5}">
                      <a16:colId xmlns:a16="http://schemas.microsoft.com/office/drawing/2014/main" val="3065814167"/>
                    </a:ext>
                  </a:extLst>
                </a:gridCol>
                <a:gridCol w="2320538">
                  <a:extLst>
                    <a:ext uri="{9D8B030D-6E8A-4147-A177-3AD203B41FA5}">
                      <a16:colId xmlns:a16="http://schemas.microsoft.com/office/drawing/2014/main" val="34754436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latin typeface="Avenir Next LT Pro"/>
                        </a:rPr>
                        <a:t>Incentive cost</a:t>
                      </a:r>
                      <a:r>
                        <a:rPr lang="en-US" sz="1800" b="0" i="0" u="none" strike="noStrike" noProof="0">
                          <a:latin typeface="Avenir Next LT Pro"/>
                        </a:rPr>
                        <a:t> ($200 each)</a:t>
                      </a:r>
                      <a:endParaRPr lang="en-US" dirty="0"/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$0</a:t>
                      </a:r>
                      <a:endParaRPr lang="en-US" dirty="0"/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$1</a:t>
                      </a:r>
                      <a:r>
                        <a:rPr lang="en-US" sz="1800" b="0" i="0" u="none" strike="noStrike" noProof="0">
                          <a:latin typeface="Avenir Next LT Pro"/>
                        </a:rPr>
                        <a:t>3,400</a:t>
                      </a:r>
                      <a:endParaRPr lang="en-US" dirty="0"/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$</a:t>
                      </a:r>
                      <a:r>
                        <a:rPr lang="en-US" sz="1800" b="0" i="0" u="none" strike="noStrike" noProof="0">
                          <a:latin typeface="Avenir Next LT Pro"/>
                        </a:rPr>
                        <a:t>11,200</a:t>
                      </a:r>
                      <a:endParaRPr lang="en-US" dirty="0"/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71235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F490ED0-CB18-B4B3-05F3-12025F9033DF}"/>
              </a:ext>
            </a:extLst>
          </p:cNvPr>
          <p:cNvGraphicFramePr>
            <a:graphicFrameLocks noGrp="1"/>
          </p:cNvGraphicFramePr>
          <p:nvPr/>
        </p:nvGraphicFramePr>
        <p:xfrm>
          <a:off x="568960" y="4439459"/>
          <a:ext cx="11379731" cy="365760"/>
        </p:xfrm>
        <a:graphic>
          <a:graphicData uri="http://schemas.openxmlformats.org/drawingml/2006/table">
            <a:tbl>
              <a:tblPr bandRow="1">
                <a:tableStyleId>{284E427A-3D55-4303-BF80-6455036E1DE7}</a:tableStyleId>
              </a:tblPr>
              <a:tblGrid>
                <a:gridCol w="4699415">
                  <a:extLst>
                    <a:ext uri="{9D8B030D-6E8A-4147-A177-3AD203B41FA5}">
                      <a16:colId xmlns:a16="http://schemas.microsoft.com/office/drawing/2014/main" val="2461642900"/>
                    </a:ext>
                  </a:extLst>
                </a:gridCol>
                <a:gridCol w="2029296">
                  <a:extLst>
                    <a:ext uri="{9D8B030D-6E8A-4147-A177-3AD203B41FA5}">
                      <a16:colId xmlns:a16="http://schemas.microsoft.com/office/drawing/2014/main" val="3297900399"/>
                    </a:ext>
                  </a:extLst>
                </a:gridCol>
                <a:gridCol w="2330482">
                  <a:extLst>
                    <a:ext uri="{9D8B030D-6E8A-4147-A177-3AD203B41FA5}">
                      <a16:colId xmlns:a16="http://schemas.microsoft.com/office/drawing/2014/main" val="3065814167"/>
                    </a:ext>
                  </a:extLst>
                </a:gridCol>
                <a:gridCol w="2320538">
                  <a:extLst>
                    <a:ext uri="{9D8B030D-6E8A-4147-A177-3AD203B41FA5}">
                      <a16:colId xmlns:a16="http://schemas.microsoft.com/office/drawing/2014/main" val="3475443680"/>
                    </a:ext>
                  </a:extLst>
                </a:gridCol>
              </a:tblGrid>
              <a:tr h="35976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latin typeface="Avenir Next LT Pro"/>
                        </a:rPr>
                        <a:t>Replacement cost</a:t>
                      </a:r>
                      <a:r>
                        <a:rPr lang="en-US" sz="1800" b="0" i="0" u="none" strike="noStrike" noProof="0">
                          <a:latin typeface="Avenir Next LT Pro"/>
                        </a:rPr>
                        <a:t> (missed leavers × $60k)</a:t>
                      </a:r>
                      <a:endParaRPr lang="en-US" dirty="0"/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$</a:t>
                      </a:r>
                      <a:r>
                        <a:rPr lang="en-US" sz="1800" b="0" i="0" u="none" strike="noStrike" noProof="0">
                          <a:latin typeface="Avenir Next LT Pro"/>
                        </a:rPr>
                        <a:t>1,500,000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$</a:t>
                      </a:r>
                      <a:r>
                        <a:rPr lang="en-US" sz="1800" b="0" i="0" u="none" strike="noStrike" noProof="0">
                          <a:latin typeface="Avenir Next LT Pro"/>
                        </a:rPr>
                        <a:t>480,000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$36</a:t>
                      </a:r>
                      <a:r>
                        <a:rPr lang="en-US" sz="1800" b="0" i="0" u="none" strike="noStrike" noProof="0">
                          <a:latin typeface="Avenir Next LT Pro"/>
                        </a:rPr>
                        <a:t>0,000</a:t>
                      </a:r>
                      <a:endParaRPr lang="en-US" dirty="0"/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96135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2B36ADC-2E43-2B3A-3B1C-B6DFCD8A8B1B}"/>
              </a:ext>
            </a:extLst>
          </p:cNvPr>
          <p:cNvGraphicFramePr>
            <a:graphicFrameLocks noGrp="1"/>
          </p:cNvGraphicFramePr>
          <p:nvPr/>
        </p:nvGraphicFramePr>
        <p:xfrm>
          <a:off x="568960" y="4803140"/>
          <a:ext cx="11379731" cy="365760"/>
        </p:xfrm>
        <a:graphic>
          <a:graphicData uri="http://schemas.openxmlformats.org/drawingml/2006/table">
            <a:tbl>
              <a:tblPr bandRow="1">
                <a:tableStyleId>{284E427A-3D55-4303-BF80-6455036E1DE7}</a:tableStyleId>
              </a:tblPr>
              <a:tblGrid>
                <a:gridCol w="4699415">
                  <a:extLst>
                    <a:ext uri="{9D8B030D-6E8A-4147-A177-3AD203B41FA5}">
                      <a16:colId xmlns:a16="http://schemas.microsoft.com/office/drawing/2014/main" val="2461642900"/>
                    </a:ext>
                  </a:extLst>
                </a:gridCol>
                <a:gridCol w="2029296">
                  <a:extLst>
                    <a:ext uri="{9D8B030D-6E8A-4147-A177-3AD203B41FA5}">
                      <a16:colId xmlns:a16="http://schemas.microsoft.com/office/drawing/2014/main" val="3297900399"/>
                    </a:ext>
                  </a:extLst>
                </a:gridCol>
                <a:gridCol w="2330482">
                  <a:extLst>
                    <a:ext uri="{9D8B030D-6E8A-4147-A177-3AD203B41FA5}">
                      <a16:colId xmlns:a16="http://schemas.microsoft.com/office/drawing/2014/main" val="3065814167"/>
                    </a:ext>
                  </a:extLst>
                </a:gridCol>
                <a:gridCol w="2320538">
                  <a:extLst>
                    <a:ext uri="{9D8B030D-6E8A-4147-A177-3AD203B41FA5}">
                      <a16:colId xmlns:a16="http://schemas.microsoft.com/office/drawing/2014/main" val="34754436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Total cost</a:t>
                      </a:r>
                      <a:endParaRPr lang="en-US" dirty="0"/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$</a:t>
                      </a:r>
                      <a:r>
                        <a:rPr lang="en-US" sz="1800" b="0" i="0" u="none" strike="noStrike" noProof="0">
                          <a:latin typeface="Avenir Next LT Pro"/>
                        </a:rPr>
                        <a:t>1,500,000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$</a:t>
                      </a:r>
                      <a:r>
                        <a:rPr lang="en-US" sz="1800" b="0" i="0" u="none" strike="noStrike" noProof="0">
                          <a:latin typeface="Avenir Next LT Pro"/>
                        </a:rPr>
                        <a:t>493,400</a:t>
                      </a:r>
                      <a:endParaRPr lang="en-US" dirty="0"/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$</a:t>
                      </a:r>
                      <a:r>
                        <a:rPr lang="en-US" sz="1800" b="0" i="0" u="none" strike="noStrike" noProof="0">
                          <a:latin typeface="Avenir Next LT Pro"/>
                        </a:rPr>
                        <a:t>371,200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028129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4ECA5A0-394E-8824-7C7F-EFC4EB48686E}"/>
              </a:ext>
            </a:extLst>
          </p:cNvPr>
          <p:cNvGraphicFramePr>
            <a:graphicFrameLocks noGrp="1"/>
          </p:cNvGraphicFramePr>
          <p:nvPr/>
        </p:nvGraphicFramePr>
        <p:xfrm>
          <a:off x="568960" y="5166821"/>
          <a:ext cx="11379731" cy="365760"/>
        </p:xfrm>
        <a:graphic>
          <a:graphicData uri="http://schemas.openxmlformats.org/drawingml/2006/table">
            <a:tbl>
              <a:tblPr bandRow="1">
                <a:tableStyleId>{284E427A-3D55-4303-BF80-6455036E1DE7}</a:tableStyleId>
              </a:tblPr>
              <a:tblGrid>
                <a:gridCol w="4699415">
                  <a:extLst>
                    <a:ext uri="{9D8B030D-6E8A-4147-A177-3AD203B41FA5}">
                      <a16:colId xmlns:a16="http://schemas.microsoft.com/office/drawing/2014/main" val="2461642900"/>
                    </a:ext>
                  </a:extLst>
                </a:gridCol>
                <a:gridCol w="2029296">
                  <a:extLst>
                    <a:ext uri="{9D8B030D-6E8A-4147-A177-3AD203B41FA5}">
                      <a16:colId xmlns:a16="http://schemas.microsoft.com/office/drawing/2014/main" val="3297900399"/>
                    </a:ext>
                  </a:extLst>
                </a:gridCol>
                <a:gridCol w="2330482">
                  <a:extLst>
                    <a:ext uri="{9D8B030D-6E8A-4147-A177-3AD203B41FA5}">
                      <a16:colId xmlns:a16="http://schemas.microsoft.com/office/drawing/2014/main" val="3065814167"/>
                    </a:ext>
                  </a:extLst>
                </a:gridCol>
                <a:gridCol w="2320538">
                  <a:extLst>
                    <a:ext uri="{9D8B030D-6E8A-4147-A177-3AD203B41FA5}">
                      <a16:colId xmlns:a16="http://schemas.microsoft.com/office/drawing/2014/main" val="34754436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/>
                        <a:t>Savings</a:t>
                      </a:r>
                      <a:endParaRPr lang="en-US" dirty="0"/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dirty="0"/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$</a:t>
                      </a:r>
                      <a:r>
                        <a:rPr lang="en-US" sz="1800" b="0" i="0" u="none" strike="noStrike" noProof="0">
                          <a:latin typeface="Avenir Next LT Pro"/>
                        </a:rPr>
                        <a:t>1,006,600</a:t>
                      </a:r>
                      <a:endParaRPr lang="en-US" dirty="0"/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$</a:t>
                      </a:r>
                      <a:r>
                        <a:rPr lang="en-US" sz="1800" b="1" i="0" u="none" strike="noStrike" noProof="0">
                          <a:latin typeface="Avenir Next LT Pro"/>
                        </a:rPr>
                        <a:t>1,128,800</a:t>
                      </a:r>
                      <a:endParaRPr lang="en-US" b="1"/>
                    </a:p>
                  </a:txBody>
                  <a:tcPr anchor="ctr">
                    <a:lnL w="76200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B9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187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6315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5270A-0A7B-171E-3A2A-BD57071346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Recommendations</a:t>
            </a:r>
            <a:endParaRPr lang="en-US" dirty="0"/>
          </a:p>
        </p:txBody>
      </p:sp>
      <p:sp>
        <p:nvSpPr>
          <p:cNvPr id="5" name="Subtitle 3">
            <a:extLst>
              <a:ext uri="{FF2B5EF4-FFF2-40B4-BE49-F238E27FC236}">
                <a16:creationId xmlns:a16="http://schemas.microsoft.com/office/drawing/2014/main" id="{64C2E5B6-3AAD-7CE5-AA36-8D7865C7F10C}"/>
              </a:ext>
            </a:extLst>
          </p:cNvPr>
          <p:cNvSpPr txBox="1">
            <a:spLocks/>
          </p:cNvSpPr>
          <p:nvPr/>
        </p:nvSpPr>
        <p:spPr>
          <a:xfrm>
            <a:off x="849333" y="3738635"/>
            <a:ext cx="10983559" cy="32237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2. Pilot a Retention Program for Sales Representatives</a:t>
            </a:r>
            <a:endParaRPr lang="en-US" sz="28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8496EB-6D5F-F7A2-B491-292BF458FF29}"/>
              </a:ext>
            </a:extLst>
          </p:cNvPr>
          <p:cNvSpPr txBox="1"/>
          <p:nvPr/>
        </p:nvSpPr>
        <p:spPr>
          <a:xfrm>
            <a:off x="847811" y="4628636"/>
            <a:ext cx="10819027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2800" b="1" i="0" u="none" strike="noStrike" baseline="0">
                <a:solidFill>
                  <a:srgbClr val="404040"/>
                </a:solidFill>
                <a:latin typeface="Avenir Next LT Pro"/>
                <a:ea typeface="Segoe UI"/>
                <a:cs typeface="Segoe UI"/>
              </a:rPr>
              <a:t>3. Track Retention Outcomes and Return on Investment</a:t>
            </a:r>
            <a:r>
              <a:rPr lang="en-US" sz="2800" b="0" i="0">
                <a:solidFill>
                  <a:srgbClr val="010101"/>
                </a:solidFill>
                <a:latin typeface="Avenir Next LT Pro"/>
                <a:ea typeface="Segoe UI"/>
                <a:cs typeface="Segoe UI"/>
              </a:rPr>
              <a:t>​</a:t>
            </a:r>
          </a:p>
          <a:p>
            <a:pPr lvl="0" algn="ctr" rtl="0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D97A92-3D73-DE87-9FEA-BF18D3F8CEAE}"/>
              </a:ext>
            </a:extLst>
          </p:cNvPr>
          <p:cNvSpPr txBox="1"/>
          <p:nvPr/>
        </p:nvSpPr>
        <p:spPr>
          <a:xfrm>
            <a:off x="849116" y="2814992"/>
            <a:ext cx="10472776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0" u="none" strike="noStrike" baseline="0">
                <a:solidFill>
                  <a:srgbClr val="404040"/>
                </a:solidFill>
                <a:latin typeface="Avenir Next LT Pro"/>
                <a:ea typeface="Segoe UI"/>
                <a:cs typeface="Segoe UI"/>
              </a:rPr>
              <a:t>1. </a:t>
            </a:r>
            <a:r>
              <a:rPr lang="en-US" sz="2800" b="1">
                <a:solidFill>
                  <a:srgbClr val="404040"/>
                </a:solidFill>
                <a:latin typeface="Avenir Next LT Pro"/>
                <a:ea typeface="Segoe UI"/>
                <a:cs typeface="Segoe UI"/>
              </a:rPr>
              <a:t>Use Naïve Bayes to Identify At Risk Employees</a:t>
            </a:r>
            <a:endParaRPr lang="en-US" sz="2800" b="0" i="0">
              <a:solidFill>
                <a:srgbClr val="010101"/>
              </a:solidFill>
              <a:latin typeface="Avenir Next LT Pro"/>
              <a:ea typeface="Segoe UI"/>
              <a:cs typeface="Segoe UI"/>
            </a:endParaRPr>
          </a:p>
          <a:p>
            <a:pPr lvl="0"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481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9E7504-A822-8D32-FB21-6E5C86630C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13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doni MT Condensed" panose="02070606080606020203" pitchFamily="18" charset="77"/>
              </a:rPr>
              <a:t>THANK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166225-7300-EC8A-12B0-C29B3D5988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l"/>
            <a:r>
              <a:rPr lang="en-US" sz="138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Bodoni MT Condensed" panose="02070606080606020203" pitchFamily="18" charset="77"/>
              </a:rPr>
              <a:t>YOU</a:t>
            </a:r>
            <a:endParaRPr lang="en-US" sz="11500" b="1" i="1" dirty="0">
              <a:solidFill>
                <a:schemeClr val="tx1">
                  <a:lumMod val="75000"/>
                  <a:lumOff val="25000"/>
                </a:schemeClr>
              </a:solidFill>
              <a:latin typeface="Bodoni MT Condensed" panose="02070606080606020203" pitchFamily="18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08A721-3F05-2984-FC02-8CE14FFF8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884166" y="0"/>
            <a:ext cx="0" cy="411480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051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1">
      <a:dk1>
        <a:srgbClr val="010101"/>
      </a:dk1>
      <a:lt1>
        <a:srgbClr val="FFFFFF"/>
      </a:lt1>
      <a:dk2>
        <a:srgbClr val="F9987F"/>
      </a:dk2>
      <a:lt2>
        <a:srgbClr val="E6E3E5"/>
      </a:lt2>
      <a:accent1>
        <a:srgbClr val="E4E1DB"/>
      </a:accent1>
      <a:accent2>
        <a:srgbClr val="C08D80"/>
      </a:accent2>
      <a:accent3>
        <a:srgbClr val="D3B9AA"/>
      </a:accent3>
      <a:accent4>
        <a:srgbClr val="C17250"/>
      </a:accent4>
      <a:accent5>
        <a:srgbClr val="6F4838"/>
      </a:accent5>
      <a:accent6>
        <a:srgbClr val="9F5700"/>
      </a:accent6>
      <a:hlink>
        <a:srgbClr val="9F5700"/>
      </a:hlink>
      <a:folHlink>
        <a:srgbClr val="BF8C7F"/>
      </a:folHlink>
    </a:clrScheme>
    <a:fontScheme name="Custom 42">
      <a:majorFont>
        <a:latin typeface="Bodoni MT Condensed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8DECC2-4004-45B0-9152-E844B904755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233CA24C-CD06-4FED-9400-8722D47B2DE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7B06D1-7850-46BB-A9CE-FFFBBA2716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TM00089993</Template>
  <TotalTime>0</TotalTime>
  <Words>427</Words>
  <Application>Microsoft Office PowerPoint</Application>
  <PresentationFormat>Widescreen</PresentationFormat>
  <Paragraphs>137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Predicting Attrition</vt:lpstr>
      <vt:lpstr>Employee Attrition Affects 16% of the Workforce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KNN</vt:lpstr>
      <vt:lpstr>Naïve Bayes</vt:lpstr>
      <vt:lpstr>Cost Analysis</vt:lpstr>
      <vt:lpstr>Recommendations</vt:lpstr>
      <vt:lpstr>THANK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876</cp:revision>
  <dcterms:created xsi:type="dcterms:W3CDTF">2026-10-20T00:15:00Z</dcterms:created>
  <dcterms:modified xsi:type="dcterms:W3CDTF">2026-10-26T04:45:50Z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